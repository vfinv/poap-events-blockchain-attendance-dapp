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962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SAMPLE deck. Students: replace 'FundChain' with your own DApp name and your group name. Keep the title slide clean, project name, course code, group. Presentation order: build up the project across the slides, then finish with a LIVE demo. Aim for ~10–12 minutes of slides + 4–5 minutes of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~20 seconds. State each name and the part of the build they owned. Showing who did what (contracts / frontend / storage / testing) signals a real division of labour to the examiner. Replace the avatar initials and roles with your real team.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map of the talk. Emphasise that everything before step 7 builds toward the demo, the demo is where you prove the contract actually works. Don't read every item; just point to the dark 'LIVE DEMO' block and say 'we'll finish by showing it running live.'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pain, not the tech. Anchor it in something concrete the audience already understands. Students: lead with ONE clear problem your DApp solves, ideally with a number or statistic. Don't list features yet, that comes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solution in ONE sentence (the dark bar) before listing features. For 'why blockchain', tie each feature back to a problem on the previous slide, trustless escrow answers 'platform holds the money', transparency answers 'can't verify spend', auto-refund answers 'no refund on failure'. If blockchain doesn't clearly beat a normal database for your project, the examiner will ask, be ready.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where does a click start, and where does the data end up? Make the on-chain vs off-chain split explicit, you store big files on IPFS and keep only the hash on-chain to save gas. This is a slide examiners love; a clear architecture diagram shows you understand the system, not just the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code line by line. Show the contract, then explain the FOUR things that matter: what state it stores, and the three actions (contribute / withdraw / refund). Call out the access-control modifier (onlyOwner) and the payable keyword, examiners look for these. Keep the actual function bodies for the demo and the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stack into layers as you talk: contract (Solidity + Hardhat), frontend (React + ethers.js + MetaMask), network (Sepolia), storage (IPFS). Don't just list logos, say WHY each tool was chosen in one breath. Students on Hardhat v3: mention Sepolia explicitly (Rinkeby/Goerli are deprecated).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for a blockchain SECURITY course. Pick the two or three threats most relevant to your DApp (reentrancy is the classic for anything handling funds) and say how you mitigated each. Mentioning that you wrote tests for attack cases, not just happy paths, is a strong signal.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transition. STOP presenting slides and switch to the live app. Critical: set up your browser tabs and wallet BEFORE the talk so you don't fumble. Have a backup screen-recording of the demo in case the testnet or wifi misbehaves, never let a failed live demo sink the grade.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stays up (or sits beside your app) as a checklist while you demo. Narrate every click, say what you're doing and what to watch for. The Etherscan step is the proof: it shows the transaction is real and on a public chain, not faked in the UI. Demo the FAILURE path too (refund) if time allows, it's more convincing than only the happy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scores well here. Pick real problems you hit and what you did about them, examiners can tell genuine from generic. 'Gas costs pushed us to IPFS' shows you understand the on-chain/off-chain trade-off. Keep each to one challenge + one resolution.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what works (left) and where it goes next (right). Good future-work points show you know the limits of what you built, L2 for fees, milestones/DAO for trust, stablecoins for volatility. End on one confident sentence, then move to Q&amp;A. Don't trail off.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Anticipate the obvious ones: 'why blockchain over a database?', 'how do you stop reentrancy?', 'what's your gas cost?'. Have the contract code and Etherscan page ready to jump back to. Whoever knows an answer best should field it, don't let one person answer everything.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0.png"/><Relationship Id="rId5" Type="http://schemas.openxmlformats.org/officeDocument/2006/relationships/image" Target="../media/image18.png"/><Relationship Id="rId10" Type="http://schemas.openxmlformats.org/officeDocument/2006/relationships/image" Target="../media/image16.png"/><Relationship Id="rId4" Type="http://schemas.openxmlformats.org/officeDocument/2006/relationships/image" Target="../media/image17.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30"/>
        </a:solidFill>
        <a:effectLst/>
      </p:bgPr>
    </p:bg>
    <p:spTree>
      <p:nvGrpSpPr>
        <p:cNvPr id="1" name=""/>
        <p:cNvGrpSpPr/>
        <p:nvPr/>
      </p:nvGrpSpPr>
      <p:grpSpPr>
        <a:xfrm>
          <a:off x="0" y="0"/>
          <a:ext cx="0" cy="0"/>
          <a:chOff x="0" y="0"/>
          <a:chExt cx="0" cy="0"/>
        </a:xfrm>
      </p:grpSpPr>
      <p:sp>
        <p:nvSpPr>
          <p:cNvPr id="2" name="Shape 0"/>
          <p:cNvSpPr/>
          <p:nvPr/>
        </p:nvSpPr>
        <p:spPr>
          <a:xfrm>
            <a:off x="9784080" y="1005840"/>
            <a:ext cx="822960" cy="822960"/>
          </a:xfrm>
          <a:prstGeom prst="ellipse">
            <a:avLst/>
          </a:prstGeom>
          <a:solidFill>
            <a:srgbClr val="1B2452"/>
          </a:solidFill>
          <a:ln/>
        </p:spPr>
        <p:txBody>
          <a:bodyPr/>
          <a:lstStyle/>
          <a:p>
            <a:endParaRPr lang="en-US"/>
          </a:p>
        </p:txBody>
      </p:sp>
      <p:sp>
        <p:nvSpPr>
          <p:cNvPr id="3" name="Shape 1"/>
          <p:cNvSpPr/>
          <p:nvPr/>
        </p:nvSpPr>
        <p:spPr>
          <a:xfrm>
            <a:off x="10698480" y="1828800"/>
            <a:ext cx="502920" cy="502920"/>
          </a:xfrm>
          <a:prstGeom prst="ellipse">
            <a:avLst/>
          </a:prstGeom>
          <a:solidFill>
            <a:srgbClr val="4F7CFF">
              <a:alpha val="25000"/>
            </a:srgbClr>
          </a:solidFill>
          <a:ln/>
        </p:spPr>
        <p:txBody>
          <a:bodyPr/>
          <a:lstStyle/>
          <a:p>
            <a:endParaRPr lang="en-US"/>
          </a:p>
        </p:txBody>
      </p:sp>
      <p:sp>
        <p:nvSpPr>
          <p:cNvPr id="4" name="Shape 2"/>
          <p:cNvSpPr/>
          <p:nvPr/>
        </p:nvSpPr>
        <p:spPr>
          <a:xfrm>
            <a:off x="9326880" y="2468880"/>
            <a:ext cx="365760" cy="365760"/>
          </a:xfrm>
          <a:prstGeom prst="ellipse">
            <a:avLst/>
          </a:prstGeom>
          <a:solidFill>
            <a:srgbClr val="22D3EE">
              <a:alpha val="22000"/>
            </a:srgbClr>
          </a:solidFill>
          <a:ln/>
        </p:spPr>
        <p:txBody>
          <a:bodyPr/>
          <a:lstStyle/>
          <a:p>
            <a:endParaRPr lang="en-US"/>
          </a:p>
        </p:txBody>
      </p:sp>
      <p:sp>
        <p:nvSpPr>
          <p:cNvPr id="5" name="Shape 3"/>
          <p:cNvSpPr/>
          <p:nvPr/>
        </p:nvSpPr>
        <p:spPr>
          <a:xfrm>
            <a:off x="10881360" y="3931920"/>
            <a:ext cx="640080" cy="640080"/>
          </a:xfrm>
          <a:prstGeom prst="ellipse">
            <a:avLst/>
          </a:prstGeom>
          <a:solidFill>
            <a:srgbClr val="1B2452"/>
          </a:solidFill>
          <a:ln/>
        </p:spPr>
        <p:txBody>
          <a:bodyPr/>
          <a:lstStyle/>
          <a:p>
            <a:endParaRPr lang="en-US"/>
          </a:p>
        </p:txBody>
      </p:sp>
      <p:sp>
        <p:nvSpPr>
          <p:cNvPr id="6" name="Shape 4"/>
          <p:cNvSpPr/>
          <p:nvPr/>
        </p:nvSpPr>
        <p:spPr>
          <a:xfrm>
            <a:off x="9966960" y="4754880"/>
            <a:ext cx="411480" cy="411480"/>
          </a:xfrm>
          <a:prstGeom prst="ellipse">
            <a:avLst/>
          </a:prstGeom>
          <a:solidFill>
            <a:srgbClr val="2DD4A7">
              <a:alpha val="20000"/>
            </a:srgbClr>
          </a:solidFill>
          <a:ln/>
        </p:spPr>
        <p:txBody>
          <a:bodyPr/>
          <a:lstStyle/>
          <a:p>
            <a:endParaRPr lang="en-US"/>
          </a:p>
        </p:txBody>
      </p:sp>
      <p:sp>
        <p:nvSpPr>
          <p:cNvPr id="7" name="Shape 5"/>
          <p:cNvSpPr/>
          <p:nvPr/>
        </p:nvSpPr>
        <p:spPr>
          <a:xfrm>
            <a:off x="11155680" y="5120640"/>
            <a:ext cx="274320" cy="274320"/>
          </a:xfrm>
          <a:prstGeom prst="ellipse">
            <a:avLst/>
          </a:prstGeom>
          <a:solidFill>
            <a:srgbClr val="F5B544">
              <a:alpha val="25000"/>
            </a:srgbClr>
          </a:solidFill>
          <a:ln/>
        </p:spPr>
        <p:txBody>
          <a:bodyPr/>
          <a:lstStyle/>
          <a:p>
            <a:endParaRPr lang="en-US"/>
          </a:p>
        </p:txBody>
      </p:sp>
      <p:sp>
        <p:nvSpPr>
          <p:cNvPr id="8" name="Shape 6"/>
          <p:cNvSpPr/>
          <p:nvPr/>
        </p:nvSpPr>
        <p:spPr>
          <a:xfrm>
            <a:off x="10195560" y="1417320"/>
            <a:ext cx="502920" cy="411480"/>
          </a:xfrm>
          <a:prstGeom prst="line">
            <a:avLst/>
          </a:prstGeom>
          <a:noFill/>
          <a:ln w="19050">
            <a:solidFill>
              <a:srgbClr val="4F7CFF">
                <a:alpha val="55000"/>
              </a:srgbClr>
            </a:solidFill>
            <a:prstDash val="solid"/>
          </a:ln>
        </p:spPr>
        <p:txBody>
          <a:bodyPr/>
          <a:lstStyle/>
          <a:p>
            <a:endParaRPr lang="en-US"/>
          </a:p>
        </p:txBody>
      </p:sp>
      <p:sp>
        <p:nvSpPr>
          <p:cNvPr id="9" name="Shape 7"/>
          <p:cNvSpPr/>
          <p:nvPr/>
        </p:nvSpPr>
        <p:spPr>
          <a:xfrm>
            <a:off x="10058400" y="2331720"/>
            <a:ext cx="868680" cy="1645920"/>
          </a:xfrm>
          <a:prstGeom prst="line">
            <a:avLst/>
          </a:prstGeom>
          <a:noFill/>
          <a:ln w="19050">
            <a:solidFill>
              <a:srgbClr val="22D3EE">
                <a:alpha val="45000"/>
              </a:srgbClr>
            </a:solidFill>
            <a:prstDash val="solid"/>
          </a:ln>
        </p:spPr>
        <p:txBody>
          <a:bodyPr/>
          <a:lstStyle/>
          <a:p>
            <a:endParaRPr lang="en-US"/>
          </a:p>
        </p:txBody>
      </p:sp>
      <p:sp>
        <p:nvSpPr>
          <p:cNvPr id="10" name="Text 8"/>
          <p:cNvSpPr/>
          <p:nvPr/>
        </p:nvSpPr>
        <p:spPr>
          <a:xfrm>
            <a:off x="777240" y="1234440"/>
            <a:ext cx="8229600" cy="320040"/>
          </a:xfrm>
          <a:prstGeom prst="rect">
            <a:avLst/>
          </a:prstGeom>
          <a:noFill/>
          <a:ln/>
        </p:spPr>
        <p:txBody>
          <a:bodyPr wrap="square" rtlCol="0" anchor="ctr"/>
          <a:lstStyle/>
          <a:p>
            <a:pPr marL="0" indent="0">
              <a:buNone/>
            </a:pPr>
            <a:r>
              <a:rPr lang="en-US" sz="1300" b="1" kern="0" spc="200" dirty="0">
                <a:solidFill>
                  <a:srgbClr val="22D3EE"/>
                </a:solidFill>
                <a:latin typeface="Arial" pitchFamily="34" charset="0"/>
                <a:ea typeface="Arial" pitchFamily="34" charset="-122"/>
                <a:cs typeface="Arial" pitchFamily="34" charset="-120"/>
              </a:rPr>
              <a:t>CCS6354  •  BLOCKCHAIN &amp; SMART CONTRACT</a:t>
            </a:r>
            <a:endParaRPr lang="en-US" sz="1300" dirty="0"/>
          </a:p>
        </p:txBody>
      </p:sp>
      <p:sp>
        <p:nvSpPr>
          <p:cNvPr id="11" name="Text 9"/>
          <p:cNvSpPr/>
          <p:nvPr/>
        </p:nvSpPr>
        <p:spPr>
          <a:xfrm>
            <a:off x="731520" y="1691640"/>
            <a:ext cx="8686800" cy="1737360"/>
          </a:xfrm>
          <a:prstGeom prst="rect">
            <a:avLst/>
          </a:prstGeom>
          <a:noFill/>
          <a:ln/>
        </p:spPr>
        <p:txBody>
          <a:bodyPr wrap="square" rtlCol="0" anchor="ctr"/>
          <a:lstStyle/>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Decentralized Application (DApp)</a:t>
            </a:r>
            <a:endParaRPr lang="en-US" sz="4600" dirty="0"/>
          </a:p>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Project Presentation</a:t>
            </a:r>
            <a:endParaRPr lang="en-US" sz="4600" dirty="0"/>
          </a:p>
        </p:txBody>
      </p:sp>
      <p:sp>
        <p:nvSpPr>
          <p:cNvPr id="12" name="Text 10"/>
          <p:cNvSpPr/>
          <p:nvPr/>
        </p:nvSpPr>
        <p:spPr>
          <a:xfrm>
            <a:off x="777240" y="3611880"/>
            <a:ext cx="7955280" cy="548640"/>
          </a:xfrm>
          <a:prstGeom prst="rect">
            <a:avLst/>
          </a:prstGeom>
          <a:noFill/>
          <a:ln/>
        </p:spPr>
        <p:txBody>
          <a:bodyPr wrap="square" rtlCol="0" anchor="ctr"/>
          <a:lstStyle/>
          <a:p>
            <a:pPr marL="0" indent="0">
              <a:buNone/>
            </a:pPr>
            <a:r>
              <a:rPr lang="en-US" sz="1500" i="1" dirty="0">
                <a:solidFill>
                  <a:srgbClr val="C7D2E8"/>
                </a:solidFill>
                <a:latin typeface="Arial" pitchFamily="34" charset="0"/>
                <a:ea typeface="Arial" pitchFamily="34" charset="-122"/>
                <a:cs typeface="Arial" pitchFamily="34" charset="-120"/>
              </a:rPr>
              <a:t>A worked sample showing how to present your project, slides first, then a live demo.</a:t>
            </a:r>
            <a:endParaRPr lang="en-US" sz="1500" dirty="0"/>
          </a:p>
        </p:txBody>
      </p:sp>
      <p:sp>
        <p:nvSpPr>
          <p:cNvPr id="13" name="Shape 11"/>
          <p:cNvSpPr/>
          <p:nvPr/>
        </p:nvSpPr>
        <p:spPr>
          <a:xfrm>
            <a:off x="777240" y="4434840"/>
            <a:ext cx="2743200" cy="457200"/>
          </a:xfrm>
          <a:prstGeom prst="roundRect">
            <a:avLst>
              <a:gd name="adj" fmla="val 50000"/>
            </a:avLst>
          </a:prstGeom>
          <a:solidFill>
            <a:srgbClr val="F5B544"/>
          </a:solidFill>
          <a:ln/>
        </p:spPr>
        <p:txBody>
          <a:bodyPr/>
          <a:lstStyle/>
          <a:p>
            <a:endParaRPr lang="en-US"/>
          </a:p>
        </p:txBody>
      </p:sp>
      <p:sp>
        <p:nvSpPr>
          <p:cNvPr id="14" name="Text 12"/>
          <p:cNvSpPr/>
          <p:nvPr/>
        </p:nvSpPr>
        <p:spPr>
          <a:xfrm>
            <a:off x="777240" y="4434840"/>
            <a:ext cx="2743200" cy="457200"/>
          </a:xfrm>
          <a:prstGeom prst="rect">
            <a:avLst/>
          </a:prstGeom>
          <a:noFill/>
          <a:ln/>
        </p:spPr>
        <p:txBody>
          <a:bodyPr wrap="square" rtlCol="0" anchor="ctr"/>
          <a:lstStyle/>
          <a:p>
            <a:pPr marL="0" indent="0" algn="ctr">
              <a:buNone/>
            </a:pPr>
            <a:r>
              <a:rPr lang="en-US" sz="1300" b="1" kern="0" spc="200" dirty="0">
                <a:solidFill>
                  <a:srgbClr val="0E1430"/>
                </a:solidFill>
                <a:latin typeface="Arial" pitchFamily="34" charset="0"/>
                <a:ea typeface="Arial" pitchFamily="34" charset="-122"/>
                <a:cs typeface="Arial" pitchFamily="34" charset="-120"/>
              </a:rPr>
              <a:t>SAMPLE  TEMPLATE</a:t>
            </a:r>
            <a:endParaRPr lang="en-US" sz="1300" dirty="0"/>
          </a:p>
        </p:txBody>
      </p:sp>
      <p:sp>
        <p:nvSpPr>
          <p:cNvPr id="15" name="Text 13"/>
          <p:cNvSpPr/>
          <p:nvPr/>
        </p:nvSpPr>
        <p:spPr>
          <a:xfrm>
            <a:off x="3703320" y="4434840"/>
            <a:ext cx="7772400" cy="457200"/>
          </a:xfrm>
          <a:prstGeom prst="rect">
            <a:avLst/>
          </a:prstGeom>
          <a:noFill/>
          <a:ln/>
        </p:spPr>
        <p:txBody>
          <a:bodyPr wrap="square" rtlCol="0" anchor="ctr"/>
          <a:lstStyle/>
          <a:p>
            <a:pPr marL="0" indent="0">
              <a:buNone/>
            </a:pPr>
            <a:r>
              <a:rPr lang="en-US" sz="1300" dirty="0">
                <a:solidFill>
                  <a:srgbClr val="8E9BBC"/>
                </a:solidFill>
                <a:latin typeface="Arial" pitchFamily="34" charset="0"/>
                <a:ea typeface="Arial" pitchFamily="34" charset="-122"/>
                <a:cs typeface="Arial" pitchFamily="34" charset="-120"/>
              </a:rPr>
              <a:t>Example project:  </a:t>
            </a:r>
            <a:r>
              <a:rPr lang="en-US" sz="1300" b="1" dirty="0">
                <a:solidFill>
                  <a:srgbClr val="FFFFFF"/>
                </a:solidFill>
                <a:latin typeface="Arial" pitchFamily="34" charset="0"/>
                <a:ea typeface="Arial" pitchFamily="34" charset="-122"/>
                <a:cs typeface="Arial" pitchFamily="34" charset="-120"/>
              </a:rPr>
              <a:t>FundChain: A Decentralized Crowdfunding DApp</a:t>
            </a:r>
            <a:endParaRPr lang="en-US" sz="1300" dirty="0"/>
          </a:p>
        </p:txBody>
      </p:sp>
      <p:sp>
        <p:nvSpPr>
          <p:cNvPr id="16" name="Text 14"/>
          <p:cNvSpPr/>
          <p:nvPr/>
        </p:nvSpPr>
        <p:spPr>
          <a:xfrm>
            <a:off x="777240" y="5943600"/>
            <a:ext cx="10058400" cy="320040"/>
          </a:xfrm>
          <a:prstGeom prst="rect">
            <a:avLst/>
          </a:prstGeom>
          <a:noFill/>
          <a:ln/>
        </p:spPr>
        <p:txBody>
          <a:bodyPr wrap="square" rtlCol="0" anchor="ctr"/>
          <a:lstStyle/>
          <a:p>
            <a:pPr marL="0" indent="0">
              <a:buNone/>
            </a:pPr>
            <a:r>
              <a:rPr lang="en-US" sz="1200" dirty="0">
                <a:solidFill>
                  <a:srgbClr val="7E8BAC"/>
                </a:solidFill>
                <a:latin typeface="Arial" pitchFamily="34" charset="0"/>
                <a:ea typeface="Arial" pitchFamily="34" charset="-122"/>
                <a:cs typeface="Arial" pitchFamily="34" charset="-120"/>
              </a:rPr>
              <a:t>Group Name  |  Faculty of Computing &amp; Informatics, Multimedia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4F7CFF"/>
                </a:solidFill>
                <a:latin typeface="Arial" pitchFamily="34" charset="0"/>
                <a:ea typeface="Arial" pitchFamily="34" charset="-122"/>
                <a:cs typeface="Arial" pitchFamily="34" charset="-120"/>
              </a:rPr>
              <a:t>OUR TEAM</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Group Members</a:t>
            </a:r>
            <a:endParaRPr lang="en-US" sz="2700" dirty="0"/>
          </a:p>
        </p:txBody>
      </p:sp>
      <p:sp>
        <p:nvSpPr>
          <p:cNvPr id="6" name="Shape 3"/>
          <p:cNvSpPr/>
          <p:nvPr/>
        </p:nvSpPr>
        <p:spPr>
          <a:xfrm>
            <a:off x="548640" y="1783080"/>
            <a:ext cx="2615184" cy="416052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Shape 4"/>
          <p:cNvSpPr/>
          <p:nvPr/>
        </p:nvSpPr>
        <p:spPr>
          <a:xfrm>
            <a:off x="1289304" y="2194560"/>
            <a:ext cx="1133856" cy="1133856"/>
          </a:xfrm>
          <a:prstGeom prst="ellipse">
            <a:avLst/>
          </a:prstGeom>
          <a:solidFill>
            <a:srgbClr val="1B2452"/>
          </a:solidFill>
          <a:ln/>
        </p:spPr>
        <p:txBody>
          <a:bodyPr/>
          <a:lstStyle/>
          <a:p>
            <a:endParaRPr lang="en-US"/>
          </a:p>
        </p:txBody>
      </p:sp>
      <p:sp>
        <p:nvSpPr>
          <p:cNvPr id="8" name="Text 5"/>
          <p:cNvSpPr/>
          <p:nvPr/>
        </p:nvSpPr>
        <p:spPr>
          <a:xfrm>
            <a:off x="1289304" y="2194560"/>
            <a:ext cx="1133856" cy="1133856"/>
          </a:xfrm>
          <a:prstGeom prst="rect">
            <a:avLst/>
          </a:prstGeom>
          <a:noFill/>
          <a:ln/>
        </p:spPr>
        <p:txBody>
          <a:bodyPr wrap="square" rtlCol="0" anchor="ctr"/>
          <a:lstStyle/>
          <a:p>
            <a:pPr marL="0" indent="0" algn="ctr">
              <a:buNone/>
            </a:pPr>
            <a:r>
              <a:rPr lang="en-US" sz="3400" b="1" dirty="0">
                <a:solidFill>
                  <a:srgbClr val="22D3EE"/>
                </a:solidFill>
                <a:latin typeface="Cambria" pitchFamily="34" charset="0"/>
                <a:ea typeface="Cambria" pitchFamily="34" charset="-122"/>
                <a:cs typeface="Cambria" pitchFamily="34" charset="-120"/>
              </a:rPr>
              <a:t>O</a:t>
            </a:r>
            <a:endParaRPr lang="en-US" sz="3400" dirty="0"/>
          </a:p>
        </p:txBody>
      </p:sp>
      <p:sp>
        <p:nvSpPr>
          <p:cNvPr id="9" name="Text 6"/>
          <p:cNvSpPr/>
          <p:nvPr/>
        </p:nvSpPr>
        <p:spPr>
          <a:xfrm>
            <a:off x="685800" y="3566160"/>
            <a:ext cx="2340864" cy="365760"/>
          </a:xfrm>
          <a:prstGeom prst="rect">
            <a:avLst/>
          </a:prstGeom>
          <a:noFill/>
          <a:ln/>
        </p:spPr>
        <p:txBody>
          <a:bodyPr wrap="square" rtlCol="0" anchor="ctr"/>
          <a:lstStyle/>
          <a:p>
            <a:pPr marL="0" indent="0" algn="ctr">
              <a:buNone/>
            </a:pPr>
            <a:r>
              <a:rPr lang="en-US" sz="1700" b="1" dirty="0">
                <a:solidFill>
                  <a:srgbClr val="16203A"/>
                </a:solidFill>
                <a:latin typeface="Cambria" pitchFamily="34" charset="0"/>
                <a:ea typeface="Cambria" pitchFamily="34" charset="-122"/>
                <a:cs typeface="Cambria" pitchFamily="34" charset="-120"/>
              </a:rPr>
              <a:t>Member One</a:t>
            </a:r>
            <a:endParaRPr lang="en-US" sz="1700" dirty="0"/>
          </a:p>
        </p:txBody>
      </p:sp>
      <p:sp>
        <p:nvSpPr>
          <p:cNvPr id="10" name="Shape 7"/>
          <p:cNvSpPr/>
          <p:nvPr/>
        </p:nvSpPr>
        <p:spPr>
          <a:xfrm>
            <a:off x="868680" y="4023360"/>
            <a:ext cx="1975104" cy="411480"/>
          </a:xfrm>
          <a:prstGeom prst="roundRect">
            <a:avLst>
              <a:gd name="adj" fmla="val 48889"/>
            </a:avLst>
          </a:prstGeom>
          <a:solidFill>
            <a:srgbClr val="EAF0FF"/>
          </a:solidFill>
          <a:ln/>
        </p:spPr>
        <p:txBody>
          <a:bodyPr/>
          <a:lstStyle/>
          <a:p>
            <a:endParaRPr lang="en-US"/>
          </a:p>
        </p:txBody>
      </p:sp>
      <p:sp>
        <p:nvSpPr>
          <p:cNvPr id="11" name="Text 8"/>
          <p:cNvSpPr/>
          <p:nvPr/>
        </p:nvSpPr>
        <p:spPr>
          <a:xfrm>
            <a:off x="868680" y="4023360"/>
            <a:ext cx="1975104" cy="411480"/>
          </a:xfrm>
          <a:prstGeom prst="rect">
            <a:avLst/>
          </a:prstGeom>
          <a:noFill/>
          <a:ln/>
        </p:spPr>
        <p:txBody>
          <a:bodyPr wrap="square" rtlCol="0" anchor="ctr"/>
          <a:lstStyle/>
          <a:p>
            <a:pPr marL="0" indent="0" algn="ctr">
              <a:buNone/>
            </a:pPr>
            <a:r>
              <a:rPr lang="en-US" sz="1100" b="1" dirty="0">
                <a:solidFill>
                  <a:srgbClr val="4F7CFF"/>
                </a:solidFill>
                <a:latin typeface="Arial" pitchFamily="34" charset="0"/>
                <a:ea typeface="Arial" pitchFamily="34" charset="-122"/>
                <a:cs typeface="Arial" pitchFamily="34" charset="-120"/>
              </a:rPr>
              <a:t>Team Lead • Smart Contracts</a:t>
            </a:r>
            <a:endParaRPr lang="en-US" sz="1100" dirty="0"/>
          </a:p>
        </p:txBody>
      </p:sp>
      <p:sp>
        <p:nvSpPr>
          <p:cNvPr id="12" name="Text 9"/>
          <p:cNvSpPr/>
          <p:nvPr/>
        </p:nvSpPr>
        <p:spPr>
          <a:xfrm>
            <a:off x="822960" y="4617720"/>
            <a:ext cx="2066544" cy="1005840"/>
          </a:xfrm>
          <a:prstGeom prst="rect">
            <a:avLst/>
          </a:prstGeom>
          <a:noFill/>
          <a:ln/>
        </p:spPr>
        <p:txBody>
          <a:bodyPr wrap="square" rtlCol="0" anchor="t"/>
          <a:lstStyle/>
          <a:p>
            <a:pPr marL="0" indent="0" algn="ctr">
              <a:buNone/>
            </a:pPr>
            <a:r>
              <a:rPr lang="en-US" sz="1200" dirty="0">
                <a:solidFill>
                  <a:srgbClr val="64708A"/>
                </a:solidFill>
                <a:latin typeface="Arial" pitchFamily="34" charset="0"/>
                <a:ea typeface="Arial" pitchFamily="34" charset="-122"/>
                <a:cs typeface="Arial" pitchFamily="34" charset="-120"/>
              </a:rPr>
              <a:t>Solidity, contract logic &amp; testing</a:t>
            </a:r>
            <a:endParaRPr lang="en-US" sz="1200" dirty="0"/>
          </a:p>
        </p:txBody>
      </p:sp>
      <p:sp>
        <p:nvSpPr>
          <p:cNvPr id="13" name="Shape 10"/>
          <p:cNvSpPr/>
          <p:nvPr/>
        </p:nvSpPr>
        <p:spPr>
          <a:xfrm>
            <a:off x="3438144" y="1783080"/>
            <a:ext cx="2615184" cy="416052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4" name="Shape 11"/>
          <p:cNvSpPr/>
          <p:nvPr/>
        </p:nvSpPr>
        <p:spPr>
          <a:xfrm>
            <a:off x="4178808" y="2194560"/>
            <a:ext cx="1133856" cy="1133856"/>
          </a:xfrm>
          <a:prstGeom prst="ellipse">
            <a:avLst/>
          </a:prstGeom>
          <a:solidFill>
            <a:srgbClr val="1B2452"/>
          </a:solidFill>
          <a:ln/>
        </p:spPr>
        <p:txBody>
          <a:bodyPr/>
          <a:lstStyle/>
          <a:p>
            <a:endParaRPr lang="en-US"/>
          </a:p>
        </p:txBody>
      </p:sp>
      <p:sp>
        <p:nvSpPr>
          <p:cNvPr id="15" name="Text 12"/>
          <p:cNvSpPr/>
          <p:nvPr/>
        </p:nvSpPr>
        <p:spPr>
          <a:xfrm>
            <a:off x="4178808" y="2194560"/>
            <a:ext cx="1133856" cy="1133856"/>
          </a:xfrm>
          <a:prstGeom prst="rect">
            <a:avLst/>
          </a:prstGeom>
          <a:noFill/>
          <a:ln/>
        </p:spPr>
        <p:txBody>
          <a:bodyPr wrap="square" rtlCol="0" anchor="ctr"/>
          <a:lstStyle/>
          <a:p>
            <a:pPr marL="0" indent="0" algn="ctr">
              <a:buNone/>
            </a:pPr>
            <a:r>
              <a:rPr lang="en-US" sz="3400" b="1" dirty="0">
                <a:solidFill>
                  <a:srgbClr val="22D3EE"/>
                </a:solidFill>
                <a:latin typeface="Cambria" pitchFamily="34" charset="0"/>
                <a:ea typeface="Cambria" pitchFamily="34" charset="-122"/>
                <a:cs typeface="Cambria" pitchFamily="34" charset="-120"/>
              </a:rPr>
              <a:t>T</a:t>
            </a:r>
            <a:endParaRPr lang="en-US" sz="3400" dirty="0"/>
          </a:p>
        </p:txBody>
      </p:sp>
      <p:sp>
        <p:nvSpPr>
          <p:cNvPr id="16" name="Text 13"/>
          <p:cNvSpPr/>
          <p:nvPr/>
        </p:nvSpPr>
        <p:spPr>
          <a:xfrm>
            <a:off x="3575304" y="3566160"/>
            <a:ext cx="2340864" cy="365760"/>
          </a:xfrm>
          <a:prstGeom prst="rect">
            <a:avLst/>
          </a:prstGeom>
          <a:noFill/>
          <a:ln/>
        </p:spPr>
        <p:txBody>
          <a:bodyPr wrap="square" rtlCol="0" anchor="ctr"/>
          <a:lstStyle/>
          <a:p>
            <a:pPr marL="0" indent="0" algn="ctr">
              <a:buNone/>
            </a:pPr>
            <a:r>
              <a:rPr lang="en-US" sz="1700" b="1" dirty="0">
                <a:solidFill>
                  <a:srgbClr val="16203A"/>
                </a:solidFill>
                <a:latin typeface="Cambria" pitchFamily="34" charset="0"/>
                <a:ea typeface="Cambria" pitchFamily="34" charset="-122"/>
                <a:cs typeface="Cambria" pitchFamily="34" charset="-120"/>
              </a:rPr>
              <a:t>Member Two</a:t>
            </a:r>
            <a:endParaRPr lang="en-US" sz="1700" dirty="0"/>
          </a:p>
        </p:txBody>
      </p:sp>
      <p:sp>
        <p:nvSpPr>
          <p:cNvPr id="17" name="Shape 14"/>
          <p:cNvSpPr/>
          <p:nvPr/>
        </p:nvSpPr>
        <p:spPr>
          <a:xfrm>
            <a:off x="3758184" y="4023360"/>
            <a:ext cx="1975104" cy="411480"/>
          </a:xfrm>
          <a:prstGeom prst="roundRect">
            <a:avLst>
              <a:gd name="adj" fmla="val 48889"/>
            </a:avLst>
          </a:prstGeom>
          <a:solidFill>
            <a:srgbClr val="EAF0FF"/>
          </a:solidFill>
          <a:ln/>
        </p:spPr>
        <p:txBody>
          <a:bodyPr/>
          <a:lstStyle/>
          <a:p>
            <a:endParaRPr lang="en-US"/>
          </a:p>
        </p:txBody>
      </p:sp>
      <p:sp>
        <p:nvSpPr>
          <p:cNvPr id="18" name="Text 15"/>
          <p:cNvSpPr/>
          <p:nvPr/>
        </p:nvSpPr>
        <p:spPr>
          <a:xfrm>
            <a:off x="3758184" y="4023360"/>
            <a:ext cx="1975104" cy="411480"/>
          </a:xfrm>
          <a:prstGeom prst="rect">
            <a:avLst/>
          </a:prstGeom>
          <a:noFill/>
          <a:ln/>
        </p:spPr>
        <p:txBody>
          <a:bodyPr wrap="square" rtlCol="0" anchor="ctr"/>
          <a:lstStyle/>
          <a:p>
            <a:pPr marL="0" indent="0" algn="ctr">
              <a:buNone/>
            </a:pPr>
            <a:r>
              <a:rPr lang="en-US" sz="1100" b="1" dirty="0">
                <a:solidFill>
                  <a:srgbClr val="4F7CFF"/>
                </a:solidFill>
                <a:latin typeface="Arial" pitchFamily="34" charset="0"/>
                <a:ea typeface="Arial" pitchFamily="34" charset="-122"/>
                <a:cs typeface="Arial" pitchFamily="34" charset="-120"/>
              </a:rPr>
              <a:t>Frontend Developer</a:t>
            </a:r>
            <a:endParaRPr lang="en-US" sz="1100" dirty="0"/>
          </a:p>
        </p:txBody>
      </p:sp>
      <p:sp>
        <p:nvSpPr>
          <p:cNvPr id="19" name="Text 16"/>
          <p:cNvSpPr/>
          <p:nvPr/>
        </p:nvSpPr>
        <p:spPr>
          <a:xfrm>
            <a:off x="3712464" y="4617720"/>
            <a:ext cx="2066544" cy="1005840"/>
          </a:xfrm>
          <a:prstGeom prst="rect">
            <a:avLst/>
          </a:prstGeom>
          <a:noFill/>
          <a:ln/>
        </p:spPr>
        <p:txBody>
          <a:bodyPr wrap="square" rtlCol="0" anchor="t"/>
          <a:lstStyle/>
          <a:p>
            <a:pPr marL="0" indent="0" algn="ctr">
              <a:buNone/>
            </a:pPr>
            <a:r>
              <a:rPr lang="en-US" sz="1200" dirty="0">
                <a:solidFill>
                  <a:srgbClr val="64708A"/>
                </a:solidFill>
                <a:latin typeface="Arial" pitchFamily="34" charset="0"/>
                <a:ea typeface="Arial" pitchFamily="34" charset="-122"/>
                <a:cs typeface="Arial" pitchFamily="34" charset="-120"/>
              </a:rPr>
              <a:t>React + ethers.js, wallet integration</a:t>
            </a:r>
            <a:endParaRPr lang="en-US" sz="1200" dirty="0"/>
          </a:p>
        </p:txBody>
      </p:sp>
      <p:sp>
        <p:nvSpPr>
          <p:cNvPr id="20" name="Shape 17"/>
          <p:cNvSpPr/>
          <p:nvPr/>
        </p:nvSpPr>
        <p:spPr>
          <a:xfrm>
            <a:off x="6327648" y="1783080"/>
            <a:ext cx="2615184" cy="416052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1" name="Shape 18"/>
          <p:cNvSpPr/>
          <p:nvPr/>
        </p:nvSpPr>
        <p:spPr>
          <a:xfrm>
            <a:off x="7068312" y="2194560"/>
            <a:ext cx="1133856" cy="1133856"/>
          </a:xfrm>
          <a:prstGeom prst="ellipse">
            <a:avLst/>
          </a:prstGeom>
          <a:solidFill>
            <a:srgbClr val="1B2452"/>
          </a:solidFill>
          <a:ln/>
        </p:spPr>
        <p:txBody>
          <a:bodyPr/>
          <a:lstStyle/>
          <a:p>
            <a:endParaRPr lang="en-US"/>
          </a:p>
        </p:txBody>
      </p:sp>
      <p:sp>
        <p:nvSpPr>
          <p:cNvPr id="22" name="Text 19"/>
          <p:cNvSpPr/>
          <p:nvPr/>
        </p:nvSpPr>
        <p:spPr>
          <a:xfrm>
            <a:off x="7068312" y="2194560"/>
            <a:ext cx="1133856" cy="1133856"/>
          </a:xfrm>
          <a:prstGeom prst="rect">
            <a:avLst/>
          </a:prstGeom>
          <a:noFill/>
          <a:ln/>
        </p:spPr>
        <p:txBody>
          <a:bodyPr wrap="square" rtlCol="0" anchor="ctr"/>
          <a:lstStyle/>
          <a:p>
            <a:pPr marL="0" indent="0" algn="ctr">
              <a:buNone/>
            </a:pPr>
            <a:r>
              <a:rPr lang="en-US" sz="3400" b="1" dirty="0">
                <a:solidFill>
                  <a:srgbClr val="22D3EE"/>
                </a:solidFill>
                <a:latin typeface="Cambria" pitchFamily="34" charset="0"/>
                <a:ea typeface="Cambria" pitchFamily="34" charset="-122"/>
                <a:cs typeface="Cambria" pitchFamily="34" charset="-120"/>
              </a:rPr>
              <a:t>T</a:t>
            </a:r>
            <a:endParaRPr lang="en-US" sz="3400" dirty="0"/>
          </a:p>
        </p:txBody>
      </p:sp>
      <p:sp>
        <p:nvSpPr>
          <p:cNvPr id="23" name="Text 20"/>
          <p:cNvSpPr/>
          <p:nvPr/>
        </p:nvSpPr>
        <p:spPr>
          <a:xfrm>
            <a:off x="6464808" y="3566160"/>
            <a:ext cx="2340864" cy="365760"/>
          </a:xfrm>
          <a:prstGeom prst="rect">
            <a:avLst/>
          </a:prstGeom>
          <a:noFill/>
          <a:ln/>
        </p:spPr>
        <p:txBody>
          <a:bodyPr wrap="square" rtlCol="0" anchor="ctr"/>
          <a:lstStyle/>
          <a:p>
            <a:pPr marL="0" indent="0" algn="ctr">
              <a:buNone/>
            </a:pPr>
            <a:r>
              <a:rPr lang="en-US" sz="1700" b="1" dirty="0">
                <a:solidFill>
                  <a:srgbClr val="16203A"/>
                </a:solidFill>
                <a:latin typeface="Cambria" pitchFamily="34" charset="0"/>
                <a:ea typeface="Cambria" pitchFamily="34" charset="-122"/>
                <a:cs typeface="Cambria" pitchFamily="34" charset="-120"/>
              </a:rPr>
              <a:t>Member Three</a:t>
            </a:r>
            <a:endParaRPr lang="en-US" sz="1700" dirty="0"/>
          </a:p>
        </p:txBody>
      </p:sp>
      <p:sp>
        <p:nvSpPr>
          <p:cNvPr id="24" name="Shape 21"/>
          <p:cNvSpPr/>
          <p:nvPr/>
        </p:nvSpPr>
        <p:spPr>
          <a:xfrm>
            <a:off x="6647688" y="4023360"/>
            <a:ext cx="1975104" cy="411480"/>
          </a:xfrm>
          <a:prstGeom prst="roundRect">
            <a:avLst>
              <a:gd name="adj" fmla="val 48889"/>
            </a:avLst>
          </a:prstGeom>
          <a:solidFill>
            <a:srgbClr val="EAF0FF"/>
          </a:solidFill>
          <a:ln/>
        </p:spPr>
        <p:txBody>
          <a:bodyPr/>
          <a:lstStyle/>
          <a:p>
            <a:endParaRPr lang="en-US"/>
          </a:p>
        </p:txBody>
      </p:sp>
      <p:sp>
        <p:nvSpPr>
          <p:cNvPr id="25" name="Text 22"/>
          <p:cNvSpPr/>
          <p:nvPr/>
        </p:nvSpPr>
        <p:spPr>
          <a:xfrm>
            <a:off x="6647688" y="4023360"/>
            <a:ext cx="1975104" cy="411480"/>
          </a:xfrm>
          <a:prstGeom prst="rect">
            <a:avLst/>
          </a:prstGeom>
          <a:noFill/>
          <a:ln/>
        </p:spPr>
        <p:txBody>
          <a:bodyPr wrap="square" rtlCol="0" anchor="ctr"/>
          <a:lstStyle/>
          <a:p>
            <a:pPr marL="0" indent="0" algn="ctr">
              <a:buNone/>
            </a:pPr>
            <a:r>
              <a:rPr lang="en-US" sz="1100" b="1" dirty="0">
                <a:solidFill>
                  <a:srgbClr val="4F7CFF"/>
                </a:solidFill>
                <a:latin typeface="Arial" pitchFamily="34" charset="0"/>
                <a:ea typeface="Arial" pitchFamily="34" charset="-122"/>
                <a:cs typeface="Arial" pitchFamily="34" charset="-120"/>
              </a:rPr>
              <a:t>Backend / Storage</a:t>
            </a:r>
            <a:endParaRPr lang="en-US" sz="1100" dirty="0"/>
          </a:p>
        </p:txBody>
      </p:sp>
      <p:sp>
        <p:nvSpPr>
          <p:cNvPr id="26" name="Text 23"/>
          <p:cNvSpPr/>
          <p:nvPr/>
        </p:nvSpPr>
        <p:spPr>
          <a:xfrm>
            <a:off x="6601968" y="4617720"/>
            <a:ext cx="2066544" cy="1005840"/>
          </a:xfrm>
          <a:prstGeom prst="rect">
            <a:avLst/>
          </a:prstGeom>
          <a:noFill/>
          <a:ln/>
        </p:spPr>
        <p:txBody>
          <a:bodyPr wrap="square" rtlCol="0" anchor="t"/>
          <a:lstStyle/>
          <a:p>
            <a:pPr marL="0" indent="0" algn="ctr">
              <a:buNone/>
            </a:pPr>
            <a:r>
              <a:rPr lang="en-US" sz="1200" dirty="0">
                <a:solidFill>
                  <a:srgbClr val="64708A"/>
                </a:solidFill>
                <a:latin typeface="Arial" pitchFamily="34" charset="0"/>
                <a:ea typeface="Arial" pitchFamily="34" charset="-122"/>
                <a:cs typeface="Arial" pitchFamily="34" charset="-120"/>
              </a:rPr>
              <a:t>IPFS, off-chain data, deployment</a:t>
            </a:r>
            <a:endParaRPr lang="en-US" sz="1200" dirty="0"/>
          </a:p>
        </p:txBody>
      </p:sp>
      <p:sp>
        <p:nvSpPr>
          <p:cNvPr id="27" name="Shape 24"/>
          <p:cNvSpPr/>
          <p:nvPr/>
        </p:nvSpPr>
        <p:spPr>
          <a:xfrm>
            <a:off x="9217152" y="1783080"/>
            <a:ext cx="2615184" cy="416052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8" name="Shape 25"/>
          <p:cNvSpPr/>
          <p:nvPr/>
        </p:nvSpPr>
        <p:spPr>
          <a:xfrm>
            <a:off x="9957816" y="2194560"/>
            <a:ext cx="1133856" cy="1133856"/>
          </a:xfrm>
          <a:prstGeom prst="ellipse">
            <a:avLst/>
          </a:prstGeom>
          <a:solidFill>
            <a:srgbClr val="1B2452"/>
          </a:solidFill>
          <a:ln/>
        </p:spPr>
        <p:txBody>
          <a:bodyPr/>
          <a:lstStyle/>
          <a:p>
            <a:endParaRPr lang="en-US"/>
          </a:p>
        </p:txBody>
      </p:sp>
      <p:sp>
        <p:nvSpPr>
          <p:cNvPr id="29" name="Text 26"/>
          <p:cNvSpPr/>
          <p:nvPr/>
        </p:nvSpPr>
        <p:spPr>
          <a:xfrm>
            <a:off x="9957816" y="2194560"/>
            <a:ext cx="1133856" cy="1133856"/>
          </a:xfrm>
          <a:prstGeom prst="rect">
            <a:avLst/>
          </a:prstGeom>
          <a:noFill/>
          <a:ln/>
        </p:spPr>
        <p:txBody>
          <a:bodyPr wrap="square" rtlCol="0" anchor="ctr"/>
          <a:lstStyle/>
          <a:p>
            <a:pPr marL="0" indent="0" algn="ctr">
              <a:buNone/>
            </a:pPr>
            <a:r>
              <a:rPr lang="en-US" sz="3400" b="1" dirty="0">
                <a:solidFill>
                  <a:srgbClr val="22D3EE"/>
                </a:solidFill>
                <a:latin typeface="Cambria" pitchFamily="34" charset="0"/>
                <a:ea typeface="Cambria" pitchFamily="34" charset="-122"/>
                <a:cs typeface="Cambria" pitchFamily="34" charset="-120"/>
              </a:rPr>
              <a:t>F</a:t>
            </a:r>
            <a:endParaRPr lang="en-US" sz="3400" dirty="0"/>
          </a:p>
        </p:txBody>
      </p:sp>
      <p:sp>
        <p:nvSpPr>
          <p:cNvPr id="30" name="Text 27"/>
          <p:cNvSpPr/>
          <p:nvPr/>
        </p:nvSpPr>
        <p:spPr>
          <a:xfrm>
            <a:off x="9354312" y="3566160"/>
            <a:ext cx="2340864" cy="365760"/>
          </a:xfrm>
          <a:prstGeom prst="rect">
            <a:avLst/>
          </a:prstGeom>
          <a:noFill/>
          <a:ln/>
        </p:spPr>
        <p:txBody>
          <a:bodyPr wrap="square" rtlCol="0" anchor="ctr"/>
          <a:lstStyle/>
          <a:p>
            <a:pPr marL="0" indent="0" algn="ctr">
              <a:buNone/>
            </a:pPr>
            <a:r>
              <a:rPr lang="en-US" sz="1700" b="1" dirty="0">
                <a:solidFill>
                  <a:srgbClr val="16203A"/>
                </a:solidFill>
                <a:latin typeface="Cambria" pitchFamily="34" charset="0"/>
                <a:ea typeface="Cambria" pitchFamily="34" charset="-122"/>
                <a:cs typeface="Cambria" pitchFamily="34" charset="-120"/>
              </a:rPr>
              <a:t>Member Four</a:t>
            </a:r>
            <a:endParaRPr lang="en-US" sz="1700" dirty="0"/>
          </a:p>
        </p:txBody>
      </p:sp>
      <p:sp>
        <p:nvSpPr>
          <p:cNvPr id="31" name="Shape 28"/>
          <p:cNvSpPr/>
          <p:nvPr/>
        </p:nvSpPr>
        <p:spPr>
          <a:xfrm>
            <a:off x="9537192" y="4023360"/>
            <a:ext cx="1975104" cy="411480"/>
          </a:xfrm>
          <a:prstGeom prst="roundRect">
            <a:avLst>
              <a:gd name="adj" fmla="val 48889"/>
            </a:avLst>
          </a:prstGeom>
          <a:solidFill>
            <a:srgbClr val="EAF0FF"/>
          </a:solidFill>
          <a:ln/>
        </p:spPr>
        <p:txBody>
          <a:bodyPr/>
          <a:lstStyle/>
          <a:p>
            <a:endParaRPr lang="en-US"/>
          </a:p>
        </p:txBody>
      </p:sp>
      <p:sp>
        <p:nvSpPr>
          <p:cNvPr id="32" name="Text 29"/>
          <p:cNvSpPr/>
          <p:nvPr/>
        </p:nvSpPr>
        <p:spPr>
          <a:xfrm>
            <a:off x="9537192" y="4023360"/>
            <a:ext cx="1975104" cy="411480"/>
          </a:xfrm>
          <a:prstGeom prst="rect">
            <a:avLst/>
          </a:prstGeom>
          <a:noFill/>
          <a:ln/>
        </p:spPr>
        <p:txBody>
          <a:bodyPr wrap="square" rtlCol="0" anchor="ctr"/>
          <a:lstStyle/>
          <a:p>
            <a:pPr marL="0" indent="0" algn="ctr">
              <a:buNone/>
            </a:pPr>
            <a:r>
              <a:rPr lang="en-US" sz="1100" b="1" dirty="0">
                <a:solidFill>
                  <a:srgbClr val="4F7CFF"/>
                </a:solidFill>
                <a:latin typeface="Arial" pitchFamily="34" charset="0"/>
                <a:ea typeface="Arial" pitchFamily="34" charset="-122"/>
                <a:cs typeface="Arial" pitchFamily="34" charset="-120"/>
              </a:rPr>
              <a:t>QA &amp; Documentation</a:t>
            </a:r>
            <a:endParaRPr lang="en-US" sz="1100" dirty="0"/>
          </a:p>
        </p:txBody>
      </p:sp>
      <p:sp>
        <p:nvSpPr>
          <p:cNvPr id="33" name="Text 30"/>
          <p:cNvSpPr/>
          <p:nvPr/>
        </p:nvSpPr>
        <p:spPr>
          <a:xfrm>
            <a:off x="9491472" y="4617720"/>
            <a:ext cx="2066544" cy="1005840"/>
          </a:xfrm>
          <a:prstGeom prst="rect">
            <a:avLst/>
          </a:prstGeom>
          <a:noFill/>
          <a:ln/>
        </p:spPr>
        <p:txBody>
          <a:bodyPr wrap="square" rtlCol="0" anchor="t"/>
          <a:lstStyle/>
          <a:p>
            <a:pPr marL="0" indent="0" algn="ctr">
              <a:buNone/>
            </a:pPr>
            <a:r>
              <a:rPr lang="en-US" sz="1200" dirty="0">
                <a:solidFill>
                  <a:srgbClr val="64708A"/>
                </a:solidFill>
                <a:latin typeface="Arial" pitchFamily="34" charset="0"/>
                <a:ea typeface="Arial" pitchFamily="34" charset="-122"/>
                <a:cs typeface="Arial" pitchFamily="34" charset="-120"/>
              </a:rPr>
              <a:t>Security testing, report, demo script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4F7CFF"/>
                </a:solidFill>
                <a:latin typeface="Arial" pitchFamily="34" charset="0"/>
                <a:ea typeface="Arial" pitchFamily="34" charset="-122"/>
                <a:cs typeface="Arial" pitchFamily="34" charset="-120"/>
              </a:rPr>
              <a:t>ROADMAP</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How This Presentation Flows</a:t>
            </a:r>
            <a:endParaRPr lang="en-US" sz="2700" dirty="0"/>
          </a:p>
        </p:txBody>
      </p:sp>
      <p:sp>
        <p:nvSpPr>
          <p:cNvPr id="6" name="Text 3"/>
          <p:cNvSpPr/>
          <p:nvPr/>
        </p:nvSpPr>
        <p:spPr>
          <a:xfrm>
            <a:off x="1371600" y="1207008"/>
            <a:ext cx="9144000" cy="320040"/>
          </a:xfrm>
          <a:prstGeom prst="rect">
            <a:avLst/>
          </a:prstGeom>
          <a:noFill/>
          <a:ln/>
        </p:spPr>
        <p:txBody>
          <a:bodyPr wrap="square" rtlCol="0" anchor="ctr"/>
          <a:lstStyle/>
          <a:p>
            <a:pPr marL="0" indent="0">
              <a:buNone/>
            </a:pPr>
            <a:r>
              <a:rPr lang="en-US" sz="1350" i="1" dirty="0">
                <a:solidFill>
                  <a:srgbClr val="64708A"/>
                </a:solidFill>
                <a:latin typeface="Arial" pitchFamily="34" charset="0"/>
                <a:ea typeface="Arial" pitchFamily="34" charset="-122"/>
                <a:cs typeface="Arial" pitchFamily="34" charset="-120"/>
              </a:rPr>
              <a:t>We explain the project first, then prove it works with a live demo.</a:t>
            </a:r>
            <a:endParaRPr lang="en-US" sz="1350" dirty="0"/>
          </a:p>
        </p:txBody>
      </p:sp>
      <p:sp>
        <p:nvSpPr>
          <p:cNvPr id="7" name="Shape 4"/>
          <p:cNvSpPr/>
          <p:nvPr/>
        </p:nvSpPr>
        <p:spPr>
          <a:xfrm>
            <a:off x="548640" y="1920240"/>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8" name="Shape 5"/>
          <p:cNvSpPr/>
          <p:nvPr/>
        </p:nvSpPr>
        <p:spPr>
          <a:xfrm>
            <a:off x="749808" y="2139696"/>
            <a:ext cx="402336" cy="402336"/>
          </a:xfrm>
          <a:prstGeom prst="ellipse">
            <a:avLst/>
          </a:prstGeom>
          <a:solidFill>
            <a:srgbClr val="4F7CFF"/>
          </a:solidFill>
          <a:ln/>
        </p:spPr>
        <p:txBody>
          <a:bodyPr/>
          <a:lstStyle/>
          <a:p>
            <a:endParaRPr lang="en-US"/>
          </a:p>
        </p:txBody>
      </p:sp>
      <p:sp>
        <p:nvSpPr>
          <p:cNvPr id="9" name="Text 6"/>
          <p:cNvSpPr/>
          <p:nvPr/>
        </p:nvSpPr>
        <p:spPr>
          <a:xfrm>
            <a:off x="749808" y="2139696"/>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0" name="Text 7"/>
          <p:cNvSpPr/>
          <p:nvPr/>
        </p:nvSpPr>
        <p:spPr>
          <a:xfrm>
            <a:off x="1325880" y="2057400"/>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Problem &amp; Motivation</a:t>
            </a:r>
            <a:endParaRPr lang="en-US" sz="1550" dirty="0"/>
          </a:p>
        </p:txBody>
      </p:sp>
      <p:sp>
        <p:nvSpPr>
          <p:cNvPr id="11" name="Text 8"/>
          <p:cNvSpPr/>
          <p:nvPr/>
        </p:nvSpPr>
        <p:spPr>
          <a:xfrm>
            <a:off x="1325880" y="2377440"/>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Why this matters</a:t>
            </a:r>
            <a:endParaRPr lang="en-US" sz="1150" dirty="0"/>
          </a:p>
        </p:txBody>
      </p:sp>
      <p:sp>
        <p:nvSpPr>
          <p:cNvPr id="12" name="Shape 9"/>
          <p:cNvSpPr/>
          <p:nvPr/>
        </p:nvSpPr>
        <p:spPr>
          <a:xfrm>
            <a:off x="548640" y="2889504"/>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3" name="Shape 10"/>
          <p:cNvSpPr/>
          <p:nvPr/>
        </p:nvSpPr>
        <p:spPr>
          <a:xfrm>
            <a:off x="749808" y="3108960"/>
            <a:ext cx="402336" cy="402336"/>
          </a:xfrm>
          <a:prstGeom prst="ellipse">
            <a:avLst/>
          </a:prstGeom>
          <a:solidFill>
            <a:srgbClr val="4F7CFF"/>
          </a:solidFill>
          <a:ln/>
        </p:spPr>
        <p:txBody>
          <a:bodyPr/>
          <a:lstStyle/>
          <a:p>
            <a:endParaRPr lang="en-US"/>
          </a:p>
        </p:txBody>
      </p:sp>
      <p:sp>
        <p:nvSpPr>
          <p:cNvPr id="14" name="Text 11"/>
          <p:cNvSpPr/>
          <p:nvPr/>
        </p:nvSpPr>
        <p:spPr>
          <a:xfrm>
            <a:off x="749808" y="3108960"/>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5" name="Text 12"/>
          <p:cNvSpPr/>
          <p:nvPr/>
        </p:nvSpPr>
        <p:spPr>
          <a:xfrm>
            <a:off x="1325880" y="3026664"/>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Proposed Solution</a:t>
            </a:r>
            <a:endParaRPr lang="en-US" sz="1550" dirty="0"/>
          </a:p>
        </p:txBody>
      </p:sp>
      <p:sp>
        <p:nvSpPr>
          <p:cNvPr id="16" name="Text 13"/>
          <p:cNvSpPr/>
          <p:nvPr/>
        </p:nvSpPr>
        <p:spPr>
          <a:xfrm>
            <a:off x="1325880" y="3346704"/>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What we built &amp; why blockchain</a:t>
            </a:r>
            <a:endParaRPr lang="en-US" sz="1150" dirty="0"/>
          </a:p>
        </p:txBody>
      </p:sp>
      <p:sp>
        <p:nvSpPr>
          <p:cNvPr id="17" name="Shape 14"/>
          <p:cNvSpPr/>
          <p:nvPr/>
        </p:nvSpPr>
        <p:spPr>
          <a:xfrm>
            <a:off x="548640" y="3858768"/>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8" name="Shape 15"/>
          <p:cNvSpPr/>
          <p:nvPr/>
        </p:nvSpPr>
        <p:spPr>
          <a:xfrm>
            <a:off x="749808" y="4078224"/>
            <a:ext cx="402336" cy="402336"/>
          </a:xfrm>
          <a:prstGeom prst="ellipse">
            <a:avLst/>
          </a:prstGeom>
          <a:solidFill>
            <a:srgbClr val="4F7CFF"/>
          </a:solidFill>
          <a:ln/>
        </p:spPr>
        <p:txBody>
          <a:bodyPr/>
          <a:lstStyle/>
          <a:p>
            <a:endParaRPr lang="en-US"/>
          </a:p>
        </p:txBody>
      </p:sp>
      <p:sp>
        <p:nvSpPr>
          <p:cNvPr id="19" name="Text 16"/>
          <p:cNvSpPr/>
          <p:nvPr/>
        </p:nvSpPr>
        <p:spPr>
          <a:xfrm>
            <a:off x="749808" y="4078224"/>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0" name="Text 17"/>
          <p:cNvSpPr/>
          <p:nvPr/>
        </p:nvSpPr>
        <p:spPr>
          <a:xfrm>
            <a:off x="1325880" y="3995928"/>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System Architecture</a:t>
            </a:r>
            <a:endParaRPr lang="en-US" sz="1550" dirty="0"/>
          </a:p>
        </p:txBody>
      </p:sp>
      <p:sp>
        <p:nvSpPr>
          <p:cNvPr id="21" name="Text 18"/>
          <p:cNvSpPr/>
          <p:nvPr/>
        </p:nvSpPr>
        <p:spPr>
          <a:xfrm>
            <a:off x="1325880" y="4315968"/>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How the pieces fit together</a:t>
            </a:r>
            <a:endParaRPr lang="en-US" sz="1150" dirty="0"/>
          </a:p>
        </p:txBody>
      </p:sp>
      <p:sp>
        <p:nvSpPr>
          <p:cNvPr id="22" name="Shape 19"/>
          <p:cNvSpPr/>
          <p:nvPr/>
        </p:nvSpPr>
        <p:spPr>
          <a:xfrm>
            <a:off x="548640" y="4828032"/>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3" name="Shape 20"/>
          <p:cNvSpPr/>
          <p:nvPr/>
        </p:nvSpPr>
        <p:spPr>
          <a:xfrm>
            <a:off x="749808" y="5047488"/>
            <a:ext cx="402336" cy="402336"/>
          </a:xfrm>
          <a:prstGeom prst="ellipse">
            <a:avLst/>
          </a:prstGeom>
          <a:solidFill>
            <a:srgbClr val="4F7CFF"/>
          </a:solidFill>
          <a:ln/>
        </p:spPr>
        <p:txBody>
          <a:bodyPr/>
          <a:lstStyle/>
          <a:p>
            <a:endParaRPr lang="en-US"/>
          </a:p>
        </p:txBody>
      </p:sp>
      <p:sp>
        <p:nvSpPr>
          <p:cNvPr id="24" name="Text 21"/>
          <p:cNvSpPr/>
          <p:nvPr/>
        </p:nvSpPr>
        <p:spPr>
          <a:xfrm>
            <a:off x="749808" y="5047488"/>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2"/>
          <p:cNvSpPr/>
          <p:nvPr/>
        </p:nvSpPr>
        <p:spPr>
          <a:xfrm>
            <a:off x="1325880" y="4965192"/>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Smart Contract Design</a:t>
            </a:r>
            <a:endParaRPr lang="en-US" sz="1550" dirty="0"/>
          </a:p>
        </p:txBody>
      </p:sp>
      <p:sp>
        <p:nvSpPr>
          <p:cNvPr id="26" name="Text 23"/>
          <p:cNvSpPr/>
          <p:nvPr/>
        </p:nvSpPr>
        <p:spPr>
          <a:xfrm>
            <a:off x="1325880" y="5285232"/>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On-chain logic</a:t>
            </a:r>
            <a:endParaRPr lang="en-US" sz="1150" dirty="0"/>
          </a:p>
        </p:txBody>
      </p:sp>
      <p:sp>
        <p:nvSpPr>
          <p:cNvPr id="27" name="Shape 24"/>
          <p:cNvSpPr/>
          <p:nvPr/>
        </p:nvSpPr>
        <p:spPr>
          <a:xfrm>
            <a:off x="6537960" y="1920240"/>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8" name="Shape 25"/>
          <p:cNvSpPr/>
          <p:nvPr/>
        </p:nvSpPr>
        <p:spPr>
          <a:xfrm>
            <a:off x="6739128" y="2139696"/>
            <a:ext cx="402336" cy="402336"/>
          </a:xfrm>
          <a:prstGeom prst="ellipse">
            <a:avLst/>
          </a:prstGeom>
          <a:solidFill>
            <a:srgbClr val="4F7CFF"/>
          </a:solidFill>
          <a:ln/>
        </p:spPr>
        <p:txBody>
          <a:bodyPr/>
          <a:lstStyle/>
          <a:p>
            <a:endParaRPr lang="en-US"/>
          </a:p>
        </p:txBody>
      </p:sp>
      <p:sp>
        <p:nvSpPr>
          <p:cNvPr id="29" name="Text 26"/>
          <p:cNvSpPr/>
          <p:nvPr/>
        </p:nvSpPr>
        <p:spPr>
          <a:xfrm>
            <a:off x="6739128" y="2139696"/>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0" name="Text 27"/>
          <p:cNvSpPr/>
          <p:nvPr/>
        </p:nvSpPr>
        <p:spPr>
          <a:xfrm>
            <a:off x="7315200" y="2057400"/>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Technology Stack</a:t>
            </a:r>
            <a:endParaRPr lang="en-US" sz="1550" dirty="0"/>
          </a:p>
        </p:txBody>
      </p:sp>
      <p:sp>
        <p:nvSpPr>
          <p:cNvPr id="31" name="Text 28"/>
          <p:cNvSpPr/>
          <p:nvPr/>
        </p:nvSpPr>
        <p:spPr>
          <a:xfrm>
            <a:off x="7315200" y="2377440"/>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Tools &amp; frameworks</a:t>
            </a:r>
            <a:endParaRPr lang="en-US" sz="1150" dirty="0"/>
          </a:p>
        </p:txBody>
      </p:sp>
      <p:sp>
        <p:nvSpPr>
          <p:cNvPr id="32" name="Shape 29"/>
          <p:cNvSpPr/>
          <p:nvPr/>
        </p:nvSpPr>
        <p:spPr>
          <a:xfrm>
            <a:off x="6537960" y="2889504"/>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33" name="Shape 30"/>
          <p:cNvSpPr/>
          <p:nvPr/>
        </p:nvSpPr>
        <p:spPr>
          <a:xfrm>
            <a:off x="6739128" y="3108960"/>
            <a:ext cx="402336" cy="402336"/>
          </a:xfrm>
          <a:prstGeom prst="ellipse">
            <a:avLst/>
          </a:prstGeom>
          <a:solidFill>
            <a:srgbClr val="4F7CFF"/>
          </a:solidFill>
          <a:ln/>
        </p:spPr>
        <p:txBody>
          <a:bodyPr/>
          <a:lstStyle/>
          <a:p>
            <a:endParaRPr lang="en-US"/>
          </a:p>
        </p:txBody>
      </p:sp>
      <p:sp>
        <p:nvSpPr>
          <p:cNvPr id="34" name="Text 31"/>
          <p:cNvSpPr/>
          <p:nvPr/>
        </p:nvSpPr>
        <p:spPr>
          <a:xfrm>
            <a:off x="6739128" y="3108960"/>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5" name="Text 32"/>
          <p:cNvSpPr/>
          <p:nvPr/>
        </p:nvSpPr>
        <p:spPr>
          <a:xfrm>
            <a:off x="7315200" y="3026664"/>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Security Considerations</a:t>
            </a:r>
            <a:endParaRPr lang="en-US" sz="1550" dirty="0"/>
          </a:p>
        </p:txBody>
      </p:sp>
      <p:sp>
        <p:nvSpPr>
          <p:cNvPr id="36" name="Text 33"/>
          <p:cNvSpPr/>
          <p:nvPr/>
        </p:nvSpPr>
        <p:spPr>
          <a:xfrm>
            <a:off x="7315200" y="3346704"/>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Safeguards we applied</a:t>
            </a:r>
            <a:endParaRPr lang="en-US" sz="1150" dirty="0"/>
          </a:p>
        </p:txBody>
      </p:sp>
      <p:sp>
        <p:nvSpPr>
          <p:cNvPr id="37" name="Shape 34"/>
          <p:cNvSpPr/>
          <p:nvPr/>
        </p:nvSpPr>
        <p:spPr>
          <a:xfrm>
            <a:off x="6537960" y="3858768"/>
            <a:ext cx="5074920" cy="841248"/>
          </a:xfrm>
          <a:prstGeom prst="roundRect">
            <a:avLst>
              <a:gd name="adj" fmla="val 10870"/>
            </a:avLst>
          </a:prstGeom>
          <a:solidFill>
            <a:srgbClr val="0E1430"/>
          </a:solidFill>
          <a:ln w="12700">
            <a:solidFill>
              <a:srgbClr val="0E1430"/>
            </a:solidFill>
            <a:prstDash val="solid"/>
          </a:ln>
          <a:effectLst>
            <a:outerShdw blurRad="101600" dist="38100" dir="5400000" algn="bl" rotWithShape="0">
              <a:srgbClr val="8995B0">
                <a:alpha val="22000"/>
              </a:srgbClr>
            </a:outerShdw>
          </a:effectLst>
        </p:spPr>
        <p:txBody>
          <a:bodyPr/>
          <a:lstStyle/>
          <a:p>
            <a:endParaRPr lang="en-US"/>
          </a:p>
        </p:txBody>
      </p:sp>
      <p:sp>
        <p:nvSpPr>
          <p:cNvPr id="38" name="Shape 35"/>
          <p:cNvSpPr/>
          <p:nvPr/>
        </p:nvSpPr>
        <p:spPr>
          <a:xfrm>
            <a:off x="6739128" y="4078224"/>
            <a:ext cx="402336" cy="402336"/>
          </a:xfrm>
          <a:prstGeom prst="ellipse">
            <a:avLst/>
          </a:prstGeom>
          <a:solidFill>
            <a:srgbClr val="22D3EE"/>
          </a:solidFill>
          <a:ln/>
        </p:spPr>
        <p:txBody>
          <a:bodyPr/>
          <a:lstStyle/>
          <a:p>
            <a:endParaRPr lang="en-US"/>
          </a:p>
        </p:txBody>
      </p:sp>
      <p:sp>
        <p:nvSpPr>
          <p:cNvPr id="39" name="Text 36"/>
          <p:cNvSpPr/>
          <p:nvPr/>
        </p:nvSpPr>
        <p:spPr>
          <a:xfrm>
            <a:off x="6739128" y="4078224"/>
            <a:ext cx="402336" cy="402336"/>
          </a:xfrm>
          <a:prstGeom prst="rect">
            <a:avLst/>
          </a:prstGeom>
          <a:noFill/>
          <a:ln/>
        </p:spPr>
        <p:txBody>
          <a:bodyPr wrap="square" rtlCol="0" anchor="ctr"/>
          <a:lstStyle/>
          <a:p>
            <a:pPr marL="0" indent="0" algn="ctr">
              <a:buNone/>
            </a:pPr>
            <a:r>
              <a:rPr lang="en-US" sz="1700" b="1" dirty="0">
                <a:solidFill>
                  <a:srgbClr val="0E1430"/>
                </a:solidFill>
                <a:latin typeface="Cambria" pitchFamily="34" charset="0"/>
                <a:ea typeface="Cambria" pitchFamily="34" charset="-122"/>
                <a:cs typeface="Cambria" pitchFamily="34" charset="-120"/>
              </a:rPr>
              <a:t>7</a:t>
            </a:r>
            <a:endParaRPr lang="en-US" sz="1700" dirty="0"/>
          </a:p>
        </p:txBody>
      </p:sp>
      <p:sp>
        <p:nvSpPr>
          <p:cNvPr id="40" name="Text 37"/>
          <p:cNvSpPr/>
          <p:nvPr/>
        </p:nvSpPr>
        <p:spPr>
          <a:xfrm>
            <a:off x="7315200" y="3995928"/>
            <a:ext cx="4160520" cy="347472"/>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LIVE DEMO</a:t>
            </a:r>
            <a:endParaRPr lang="en-US" sz="1550" dirty="0"/>
          </a:p>
        </p:txBody>
      </p:sp>
      <p:sp>
        <p:nvSpPr>
          <p:cNvPr id="41" name="Text 38"/>
          <p:cNvSpPr/>
          <p:nvPr/>
        </p:nvSpPr>
        <p:spPr>
          <a:xfrm>
            <a:off x="7315200" y="4315968"/>
            <a:ext cx="4160520" cy="292608"/>
          </a:xfrm>
          <a:prstGeom prst="rect">
            <a:avLst/>
          </a:prstGeom>
          <a:noFill/>
          <a:ln/>
        </p:spPr>
        <p:txBody>
          <a:bodyPr wrap="square" rtlCol="0" anchor="ctr"/>
          <a:lstStyle/>
          <a:p>
            <a:pPr marL="0" indent="0">
              <a:buNone/>
            </a:pPr>
            <a:r>
              <a:rPr lang="en-US" sz="1150" dirty="0">
                <a:solidFill>
                  <a:srgbClr val="22D3EE"/>
                </a:solidFill>
                <a:latin typeface="Arial" pitchFamily="34" charset="0"/>
                <a:ea typeface="Arial" pitchFamily="34" charset="-122"/>
                <a:cs typeface="Arial" pitchFamily="34" charset="-120"/>
              </a:rPr>
              <a:t>See it run on the testnet</a:t>
            </a:r>
            <a:endParaRPr lang="en-US" sz="1150" dirty="0"/>
          </a:p>
        </p:txBody>
      </p:sp>
      <p:sp>
        <p:nvSpPr>
          <p:cNvPr id="42" name="Shape 39"/>
          <p:cNvSpPr/>
          <p:nvPr/>
        </p:nvSpPr>
        <p:spPr>
          <a:xfrm>
            <a:off x="6537960" y="4828032"/>
            <a:ext cx="5074920" cy="841248"/>
          </a:xfrm>
          <a:prstGeom prst="roundRect">
            <a:avLst>
              <a:gd name="adj" fmla="val 1087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43" name="Shape 40"/>
          <p:cNvSpPr/>
          <p:nvPr/>
        </p:nvSpPr>
        <p:spPr>
          <a:xfrm>
            <a:off x="6739128" y="5047488"/>
            <a:ext cx="402336" cy="402336"/>
          </a:xfrm>
          <a:prstGeom prst="ellipse">
            <a:avLst/>
          </a:prstGeom>
          <a:solidFill>
            <a:srgbClr val="4F7CFF"/>
          </a:solidFill>
          <a:ln/>
        </p:spPr>
        <p:txBody>
          <a:bodyPr/>
          <a:lstStyle/>
          <a:p>
            <a:endParaRPr lang="en-US"/>
          </a:p>
        </p:txBody>
      </p:sp>
      <p:sp>
        <p:nvSpPr>
          <p:cNvPr id="44" name="Text 41"/>
          <p:cNvSpPr/>
          <p:nvPr/>
        </p:nvSpPr>
        <p:spPr>
          <a:xfrm>
            <a:off x="6739128" y="5047488"/>
            <a:ext cx="402336" cy="402336"/>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45" name="Text 42"/>
          <p:cNvSpPr/>
          <p:nvPr/>
        </p:nvSpPr>
        <p:spPr>
          <a:xfrm>
            <a:off x="7315200" y="4965192"/>
            <a:ext cx="4160520" cy="347472"/>
          </a:xfrm>
          <a:prstGeom prst="rect">
            <a:avLst/>
          </a:prstGeom>
          <a:noFill/>
          <a:ln/>
        </p:spPr>
        <p:txBody>
          <a:bodyPr wrap="square" rtlCol="0" anchor="ctr"/>
          <a:lstStyle/>
          <a:p>
            <a:pPr marL="0" indent="0">
              <a:buNone/>
            </a:pPr>
            <a:r>
              <a:rPr lang="en-US" sz="1550" b="1" dirty="0">
                <a:solidFill>
                  <a:srgbClr val="16203A"/>
                </a:solidFill>
                <a:latin typeface="Cambria" pitchFamily="34" charset="0"/>
                <a:ea typeface="Cambria" pitchFamily="34" charset="-122"/>
                <a:cs typeface="Cambria" pitchFamily="34" charset="-120"/>
              </a:rPr>
              <a:t>Conclusion &amp; Future Work</a:t>
            </a:r>
            <a:endParaRPr lang="en-US" sz="1550" dirty="0"/>
          </a:p>
        </p:txBody>
      </p:sp>
      <p:sp>
        <p:nvSpPr>
          <p:cNvPr id="46" name="Text 43"/>
          <p:cNvSpPr/>
          <p:nvPr/>
        </p:nvSpPr>
        <p:spPr>
          <a:xfrm>
            <a:off x="7315200" y="5285232"/>
            <a:ext cx="4160520" cy="292608"/>
          </a:xfrm>
          <a:prstGeom prst="rect">
            <a:avLst/>
          </a:prstGeom>
          <a:noFill/>
          <a:ln/>
        </p:spPr>
        <p:txBody>
          <a:bodyPr wrap="square" rtlCol="0" anchor="ctr"/>
          <a:lstStyle/>
          <a:p>
            <a:pPr marL="0" indent="0">
              <a:buNone/>
            </a:pPr>
            <a:r>
              <a:rPr lang="en-US" sz="1150" dirty="0">
                <a:solidFill>
                  <a:srgbClr val="64708A"/>
                </a:solidFill>
                <a:latin typeface="Arial" pitchFamily="34" charset="0"/>
                <a:ea typeface="Arial" pitchFamily="34" charset="-122"/>
                <a:cs typeface="Arial" pitchFamily="34" charset="-120"/>
              </a:rPr>
              <a:t>Takeaways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F5B544"/>
                </a:solidFill>
                <a:latin typeface="Arial" pitchFamily="34" charset="0"/>
                <a:ea typeface="Arial" pitchFamily="34" charset="-122"/>
                <a:cs typeface="Arial" pitchFamily="34" charset="-120"/>
              </a:rPr>
              <a:t>THE PROBLEM</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Problem Statement &amp; Motivation</a:t>
            </a:r>
            <a:endParaRPr lang="en-US" sz="2700" dirty="0"/>
          </a:p>
        </p:txBody>
      </p:sp>
      <p:sp>
        <p:nvSpPr>
          <p:cNvPr id="6" name="Shape 3"/>
          <p:cNvSpPr/>
          <p:nvPr/>
        </p:nvSpPr>
        <p:spPr>
          <a:xfrm>
            <a:off x="548640" y="1691640"/>
            <a:ext cx="5669280" cy="4297680"/>
          </a:xfrm>
          <a:prstGeom prst="roundRect">
            <a:avLst>
              <a:gd name="adj" fmla="val 212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Text 4"/>
          <p:cNvSpPr/>
          <p:nvPr/>
        </p:nvSpPr>
        <p:spPr>
          <a:xfrm>
            <a:off x="868680" y="1965960"/>
            <a:ext cx="5120640" cy="365760"/>
          </a:xfrm>
          <a:prstGeom prst="rect">
            <a:avLst/>
          </a:prstGeom>
          <a:noFill/>
          <a:ln/>
        </p:spPr>
        <p:txBody>
          <a:bodyPr wrap="square"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The real-world pain point</a:t>
            </a:r>
            <a:endParaRPr lang="en-US" sz="1700" dirty="0"/>
          </a:p>
        </p:txBody>
      </p:sp>
      <p:sp>
        <p:nvSpPr>
          <p:cNvPr id="8" name="Text 5"/>
          <p:cNvSpPr/>
          <p:nvPr/>
        </p:nvSpPr>
        <p:spPr>
          <a:xfrm>
            <a:off x="868680" y="2395728"/>
            <a:ext cx="5074920" cy="731520"/>
          </a:xfrm>
          <a:prstGeom prst="rect">
            <a:avLst/>
          </a:prstGeom>
          <a:noFill/>
          <a:ln/>
        </p:spPr>
        <p:txBody>
          <a:bodyPr wrap="square" rtlCol="0" anchor="ctr"/>
          <a:lstStyle/>
          <a:p>
            <a:pPr marL="0" indent="0">
              <a:lnSpc>
                <a:spcPct val="112000"/>
              </a:lnSpc>
              <a:buNone/>
            </a:pPr>
            <a:r>
              <a:rPr lang="en-US" sz="1350" dirty="0">
                <a:solidFill>
                  <a:srgbClr val="3A4660"/>
                </a:solidFill>
                <a:latin typeface="Arial" pitchFamily="34" charset="0"/>
                <a:ea typeface="Arial" pitchFamily="34" charset="-122"/>
                <a:cs typeface="Arial" pitchFamily="34" charset="-120"/>
              </a:rPr>
              <a:t>Traditional crowdfunding runs through a central platform that </a:t>
            </a:r>
            <a:r>
              <a:rPr lang="en-US" sz="1350" b="1" dirty="0">
                <a:solidFill>
                  <a:srgbClr val="16203A"/>
                </a:solidFill>
                <a:latin typeface="Arial" pitchFamily="34" charset="0"/>
                <a:ea typeface="Arial" pitchFamily="34" charset="-122"/>
                <a:cs typeface="Arial" pitchFamily="34" charset="-120"/>
              </a:rPr>
              <a:t>holds contributors' money</a:t>
            </a:r>
            <a:r>
              <a:rPr lang="en-US" sz="1350" dirty="0">
                <a:solidFill>
                  <a:srgbClr val="3A4660"/>
                </a:solidFill>
                <a:latin typeface="Arial" pitchFamily="34" charset="0"/>
                <a:ea typeface="Arial" pitchFamily="34" charset="-122"/>
                <a:cs typeface="Arial" pitchFamily="34" charset="-120"/>
              </a:rPr>
              <a:t> and takes high fees.</a:t>
            </a:r>
            <a:endParaRPr lang="en-US" sz="1350" dirty="0"/>
          </a:p>
        </p:txBody>
      </p:sp>
      <p:pic>
        <p:nvPicPr>
          <p:cNvPr id="9" name="Image 1" descr="preencoded.png"/>
          <p:cNvPicPr>
            <a:picLocks noChangeAspect="1"/>
          </p:cNvPicPr>
          <p:nvPr/>
        </p:nvPicPr>
        <p:blipFill>
          <a:blip r:embed="rId4"/>
          <a:stretch>
            <a:fillRect/>
          </a:stretch>
        </p:blipFill>
        <p:spPr>
          <a:xfrm>
            <a:off x="868680" y="3182112"/>
            <a:ext cx="201168" cy="201168"/>
          </a:xfrm>
          <a:prstGeom prst="rect">
            <a:avLst/>
          </a:prstGeom>
        </p:spPr>
      </p:pic>
      <p:sp>
        <p:nvSpPr>
          <p:cNvPr id="10" name="Text 6"/>
          <p:cNvSpPr/>
          <p:nvPr/>
        </p:nvSpPr>
        <p:spPr>
          <a:xfrm>
            <a:off x="1188720" y="3118104"/>
            <a:ext cx="4800600" cy="457200"/>
          </a:xfrm>
          <a:prstGeom prst="rect">
            <a:avLst/>
          </a:prstGeom>
          <a:noFill/>
          <a:ln/>
        </p:spPr>
        <p:txBody>
          <a:bodyPr wrap="square" rtlCol="0" anchor="t"/>
          <a:lstStyle/>
          <a:p>
            <a:pPr marL="0" indent="0">
              <a:buNone/>
            </a:pPr>
            <a:r>
              <a:rPr lang="en-US" sz="1300" dirty="0">
                <a:solidFill>
                  <a:srgbClr val="16203A"/>
                </a:solidFill>
                <a:latin typeface="Arial" pitchFamily="34" charset="0"/>
                <a:ea typeface="Arial" pitchFamily="34" charset="-122"/>
                <a:cs typeface="Arial" pitchFamily="34" charset="-120"/>
              </a:rPr>
              <a:t>Backers can't verify how funds are actually spent</a:t>
            </a:r>
            <a:endParaRPr lang="en-US" sz="1300" dirty="0"/>
          </a:p>
        </p:txBody>
      </p:sp>
      <p:pic>
        <p:nvPicPr>
          <p:cNvPr id="11" name="Image 2" descr="preencoded.png"/>
          <p:cNvPicPr>
            <a:picLocks noChangeAspect="1"/>
          </p:cNvPicPr>
          <p:nvPr/>
        </p:nvPicPr>
        <p:blipFill>
          <a:blip r:embed="rId4"/>
          <a:stretch>
            <a:fillRect/>
          </a:stretch>
        </p:blipFill>
        <p:spPr>
          <a:xfrm>
            <a:off x="868680" y="3749040"/>
            <a:ext cx="201168" cy="201168"/>
          </a:xfrm>
          <a:prstGeom prst="rect">
            <a:avLst/>
          </a:prstGeom>
        </p:spPr>
      </p:pic>
      <p:sp>
        <p:nvSpPr>
          <p:cNvPr id="12" name="Text 7"/>
          <p:cNvSpPr/>
          <p:nvPr/>
        </p:nvSpPr>
        <p:spPr>
          <a:xfrm>
            <a:off x="1188720" y="3685032"/>
            <a:ext cx="4800600" cy="457200"/>
          </a:xfrm>
          <a:prstGeom prst="rect">
            <a:avLst/>
          </a:prstGeom>
          <a:noFill/>
          <a:ln/>
        </p:spPr>
        <p:txBody>
          <a:bodyPr wrap="square" rtlCol="0" anchor="t"/>
          <a:lstStyle/>
          <a:p>
            <a:pPr marL="0" indent="0">
              <a:buNone/>
            </a:pPr>
            <a:r>
              <a:rPr lang="en-US" sz="1300" dirty="0">
                <a:solidFill>
                  <a:srgbClr val="16203A"/>
                </a:solidFill>
                <a:latin typeface="Arial" pitchFamily="34" charset="0"/>
                <a:ea typeface="Arial" pitchFamily="34" charset="-122"/>
                <a:cs typeface="Arial" pitchFamily="34" charset="-120"/>
              </a:rPr>
              <a:t>Platforms can freeze, delay, or withhold payouts</a:t>
            </a:r>
            <a:endParaRPr lang="en-US" sz="1300" dirty="0"/>
          </a:p>
        </p:txBody>
      </p:sp>
      <p:pic>
        <p:nvPicPr>
          <p:cNvPr id="13" name="Image 3" descr="preencoded.png"/>
          <p:cNvPicPr>
            <a:picLocks noChangeAspect="1"/>
          </p:cNvPicPr>
          <p:nvPr/>
        </p:nvPicPr>
        <p:blipFill>
          <a:blip r:embed="rId4"/>
          <a:stretch>
            <a:fillRect/>
          </a:stretch>
        </p:blipFill>
        <p:spPr>
          <a:xfrm>
            <a:off x="868680" y="4315968"/>
            <a:ext cx="201168" cy="201168"/>
          </a:xfrm>
          <a:prstGeom prst="rect">
            <a:avLst/>
          </a:prstGeom>
        </p:spPr>
      </p:pic>
      <p:sp>
        <p:nvSpPr>
          <p:cNvPr id="14" name="Text 8"/>
          <p:cNvSpPr/>
          <p:nvPr/>
        </p:nvSpPr>
        <p:spPr>
          <a:xfrm>
            <a:off x="1188720" y="4251960"/>
            <a:ext cx="4800600" cy="457200"/>
          </a:xfrm>
          <a:prstGeom prst="rect">
            <a:avLst/>
          </a:prstGeom>
          <a:noFill/>
          <a:ln/>
        </p:spPr>
        <p:txBody>
          <a:bodyPr wrap="square" rtlCol="0" anchor="t"/>
          <a:lstStyle/>
          <a:p>
            <a:pPr marL="0" indent="0">
              <a:buNone/>
            </a:pPr>
            <a:r>
              <a:rPr lang="en-US" sz="1300" dirty="0">
                <a:solidFill>
                  <a:srgbClr val="16203A"/>
                </a:solidFill>
                <a:latin typeface="Arial" pitchFamily="34" charset="0"/>
                <a:ea typeface="Arial" pitchFamily="34" charset="-122"/>
                <a:cs typeface="Arial" pitchFamily="34" charset="-120"/>
              </a:rPr>
              <a:t>No automatic refund if a campaign fails its goal</a:t>
            </a:r>
            <a:endParaRPr lang="en-US" sz="1300" dirty="0"/>
          </a:p>
        </p:txBody>
      </p:sp>
      <p:pic>
        <p:nvPicPr>
          <p:cNvPr id="15" name="Image 4" descr="preencoded.png"/>
          <p:cNvPicPr>
            <a:picLocks noChangeAspect="1"/>
          </p:cNvPicPr>
          <p:nvPr/>
        </p:nvPicPr>
        <p:blipFill>
          <a:blip r:embed="rId4"/>
          <a:stretch>
            <a:fillRect/>
          </a:stretch>
        </p:blipFill>
        <p:spPr>
          <a:xfrm>
            <a:off x="868680" y="4882896"/>
            <a:ext cx="201168" cy="201168"/>
          </a:xfrm>
          <a:prstGeom prst="rect">
            <a:avLst/>
          </a:prstGeom>
        </p:spPr>
      </p:pic>
      <p:sp>
        <p:nvSpPr>
          <p:cNvPr id="16" name="Text 9"/>
          <p:cNvSpPr/>
          <p:nvPr/>
        </p:nvSpPr>
        <p:spPr>
          <a:xfrm>
            <a:off x="1188720" y="4818888"/>
            <a:ext cx="4800600" cy="457200"/>
          </a:xfrm>
          <a:prstGeom prst="rect">
            <a:avLst/>
          </a:prstGeom>
          <a:noFill/>
          <a:ln/>
        </p:spPr>
        <p:txBody>
          <a:bodyPr wrap="square" rtlCol="0" anchor="t"/>
          <a:lstStyle/>
          <a:p>
            <a:pPr marL="0" indent="0">
              <a:buNone/>
            </a:pPr>
            <a:r>
              <a:rPr lang="en-US" sz="1300" dirty="0">
                <a:solidFill>
                  <a:srgbClr val="16203A"/>
                </a:solidFill>
                <a:latin typeface="Arial" pitchFamily="34" charset="0"/>
                <a:ea typeface="Arial" pitchFamily="34" charset="-122"/>
                <a:cs typeface="Arial" pitchFamily="34" charset="-120"/>
              </a:rPr>
              <a:t>Cross-border donors face friction and high cut</a:t>
            </a:r>
            <a:endParaRPr lang="en-US" sz="1300" dirty="0"/>
          </a:p>
        </p:txBody>
      </p:sp>
      <p:sp>
        <p:nvSpPr>
          <p:cNvPr id="17" name="Shape 10"/>
          <p:cNvSpPr/>
          <p:nvPr/>
        </p:nvSpPr>
        <p:spPr>
          <a:xfrm>
            <a:off x="6537960" y="1691640"/>
            <a:ext cx="5074920" cy="1307592"/>
          </a:xfrm>
          <a:prstGeom prst="roundRect">
            <a:avLst>
              <a:gd name="adj" fmla="val 699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8" name="Text 11"/>
          <p:cNvSpPr/>
          <p:nvPr/>
        </p:nvSpPr>
        <p:spPr>
          <a:xfrm>
            <a:off x="6812280" y="1856232"/>
            <a:ext cx="2103120" cy="960120"/>
          </a:xfrm>
          <a:prstGeom prst="rect">
            <a:avLst/>
          </a:prstGeom>
          <a:noFill/>
          <a:ln/>
        </p:spPr>
        <p:txBody>
          <a:bodyPr wrap="square" rtlCol="0" anchor="ctr"/>
          <a:lstStyle/>
          <a:p>
            <a:pPr marL="0" indent="0">
              <a:buNone/>
            </a:pPr>
            <a:r>
              <a:rPr lang="en-US" sz="3800" b="1" dirty="0">
                <a:solidFill>
                  <a:srgbClr val="F5B544"/>
                </a:solidFill>
                <a:latin typeface="Cambria" pitchFamily="34" charset="0"/>
                <a:ea typeface="Cambria" pitchFamily="34" charset="-122"/>
                <a:cs typeface="Cambria" pitchFamily="34" charset="-120"/>
              </a:rPr>
              <a:t>~5–8%</a:t>
            </a:r>
            <a:endParaRPr lang="en-US" sz="3800" dirty="0"/>
          </a:p>
        </p:txBody>
      </p:sp>
      <p:sp>
        <p:nvSpPr>
          <p:cNvPr id="19" name="Text 12"/>
          <p:cNvSpPr/>
          <p:nvPr/>
        </p:nvSpPr>
        <p:spPr>
          <a:xfrm>
            <a:off x="8732520" y="1874520"/>
            <a:ext cx="2651760" cy="914400"/>
          </a:xfrm>
          <a:prstGeom prst="rect">
            <a:avLst/>
          </a:prstGeom>
          <a:noFill/>
          <a:ln/>
        </p:spPr>
        <p:txBody>
          <a:bodyPr wrap="square" rtlCol="0" anchor="ctr"/>
          <a:lstStyle/>
          <a:p>
            <a:pPr marL="0" indent="0">
              <a:buNone/>
            </a:pPr>
            <a:r>
              <a:rPr lang="en-US" sz="1300" dirty="0">
                <a:solidFill>
                  <a:srgbClr val="64708A"/>
                </a:solidFill>
                <a:latin typeface="Arial" pitchFamily="34" charset="0"/>
                <a:ea typeface="Arial" pitchFamily="34" charset="-122"/>
                <a:cs typeface="Arial" pitchFamily="34" charset="-120"/>
              </a:rPr>
              <a:t>typical platform + payment fees per campaign</a:t>
            </a:r>
            <a:endParaRPr lang="en-US" sz="1300" dirty="0"/>
          </a:p>
        </p:txBody>
      </p:sp>
      <p:sp>
        <p:nvSpPr>
          <p:cNvPr id="20" name="Shape 13"/>
          <p:cNvSpPr/>
          <p:nvPr/>
        </p:nvSpPr>
        <p:spPr>
          <a:xfrm>
            <a:off x="6537960" y="3140964"/>
            <a:ext cx="5074920" cy="1307592"/>
          </a:xfrm>
          <a:prstGeom prst="roundRect">
            <a:avLst>
              <a:gd name="adj" fmla="val 699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1" name="Text 14"/>
          <p:cNvSpPr/>
          <p:nvPr/>
        </p:nvSpPr>
        <p:spPr>
          <a:xfrm>
            <a:off x="6812280" y="3305556"/>
            <a:ext cx="2103120" cy="960120"/>
          </a:xfrm>
          <a:prstGeom prst="rect">
            <a:avLst/>
          </a:prstGeom>
          <a:noFill/>
          <a:ln/>
        </p:spPr>
        <p:txBody>
          <a:bodyPr wrap="square" rtlCol="0" anchor="ctr"/>
          <a:lstStyle/>
          <a:p>
            <a:pPr marL="0" indent="0">
              <a:buNone/>
            </a:pPr>
            <a:r>
              <a:rPr lang="en-US" sz="3800" b="1" dirty="0">
                <a:solidFill>
                  <a:srgbClr val="4F7CFF"/>
                </a:solidFill>
                <a:latin typeface="Cambria" pitchFamily="34" charset="0"/>
                <a:ea typeface="Cambria" pitchFamily="34" charset="-122"/>
                <a:cs typeface="Cambria" pitchFamily="34" charset="-120"/>
              </a:rPr>
              <a:t>Zero</a:t>
            </a:r>
            <a:endParaRPr lang="en-US" sz="3800" dirty="0"/>
          </a:p>
        </p:txBody>
      </p:sp>
      <p:sp>
        <p:nvSpPr>
          <p:cNvPr id="22" name="Text 15"/>
          <p:cNvSpPr/>
          <p:nvPr/>
        </p:nvSpPr>
        <p:spPr>
          <a:xfrm>
            <a:off x="8732520" y="3323844"/>
            <a:ext cx="2651760" cy="914400"/>
          </a:xfrm>
          <a:prstGeom prst="rect">
            <a:avLst/>
          </a:prstGeom>
          <a:noFill/>
          <a:ln/>
        </p:spPr>
        <p:txBody>
          <a:bodyPr wrap="square" rtlCol="0" anchor="ctr"/>
          <a:lstStyle/>
          <a:p>
            <a:pPr marL="0" indent="0">
              <a:buNone/>
            </a:pPr>
            <a:r>
              <a:rPr lang="en-US" sz="1300" dirty="0">
                <a:solidFill>
                  <a:srgbClr val="64708A"/>
                </a:solidFill>
                <a:latin typeface="Arial" pitchFamily="34" charset="0"/>
                <a:ea typeface="Arial" pitchFamily="34" charset="-122"/>
                <a:cs typeface="Arial" pitchFamily="34" charset="-120"/>
              </a:rPr>
              <a:t>on-chain proof of how raised funds are used</a:t>
            </a:r>
            <a:endParaRPr lang="en-US" sz="1300" dirty="0"/>
          </a:p>
        </p:txBody>
      </p:sp>
      <p:sp>
        <p:nvSpPr>
          <p:cNvPr id="23" name="Shape 16"/>
          <p:cNvSpPr/>
          <p:nvPr/>
        </p:nvSpPr>
        <p:spPr>
          <a:xfrm>
            <a:off x="6537960" y="4590288"/>
            <a:ext cx="5074920" cy="1307592"/>
          </a:xfrm>
          <a:prstGeom prst="roundRect">
            <a:avLst>
              <a:gd name="adj" fmla="val 699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4" name="Text 17"/>
          <p:cNvSpPr/>
          <p:nvPr/>
        </p:nvSpPr>
        <p:spPr>
          <a:xfrm>
            <a:off x="6812280" y="4754880"/>
            <a:ext cx="2103120" cy="960120"/>
          </a:xfrm>
          <a:prstGeom prst="rect">
            <a:avLst/>
          </a:prstGeom>
          <a:noFill/>
          <a:ln/>
        </p:spPr>
        <p:txBody>
          <a:bodyPr wrap="square" rtlCol="0" anchor="ctr"/>
          <a:lstStyle/>
          <a:p>
            <a:pPr marL="0" indent="0">
              <a:buNone/>
            </a:pPr>
            <a:r>
              <a:rPr lang="en-US" sz="3800" b="1" dirty="0">
                <a:solidFill>
                  <a:srgbClr val="22D3EE"/>
                </a:solidFill>
                <a:latin typeface="Cambria" pitchFamily="34" charset="0"/>
                <a:ea typeface="Cambria" pitchFamily="34" charset="-122"/>
                <a:cs typeface="Cambria" pitchFamily="34" charset="-120"/>
              </a:rPr>
              <a:t>Manual</a:t>
            </a:r>
            <a:endParaRPr lang="en-US" sz="3800" dirty="0"/>
          </a:p>
        </p:txBody>
      </p:sp>
      <p:sp>
        <p:nvSpPr>
          <p:cNvPr id="25" name="Text 18"/>
          <p:cNvSpPr/>
          <p:nvPr/>
        </p:nvSpPr>
        <p:spPr>
          <a:xfrm>
            <a:off x="8732520" y="4773168"/>
            <a:ext cx="2651760" cy="914400"/>
          </a:xfrm>
          <a:prstGeom prst="rect">
            <a:avLst/>
          </a:prstGeom>
          <a:noFill/>
          <a:ln/>
        </p:spPr>
        <p:txBody>
          <a:bodyPr wrap="square" rtlCol="0" anchor="ctr"/>
          <a:lstStyle/>
          <a:p>
            <a:pPr marL="0" indent="0">
              <a:buNone/>
            </a:pPr>
            <a:r>
              <a:rPr lang="en-US" sz="1300" dirty="0">
                <a:solidFill>
                  <a:srgbClr val="64708A"/>
                </a:solidFill>
                <a:latin typeface="Arial" pitchFamily="34" charset="0"/>
                <a:ea typeface="Arial" pitchFamily="34" charset="-122"/>
                <a:cs typeface="Arial" pitchFamily="34" charset="-120"/>
              </a:rPr>
              <a:t>refunds when a goal is missed, if they happen at all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2DD4A7"/>
                </a:solidFill>
                <a:latin typeface="Arial" pitchFamily="34" charset="0"/>
                <a:ea typeface="Arial" pitchFamily="34" charset="-122"/>
                <a:cs typeface="Arial" pitchFamily="34" charset="-120"/>
              </a:rPr>
              <a:t>OUR SOLUTION</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Proposed Solution: Why Blockchain</a:t>
            </a:r>
            <a:endParaRPr lang="en-US" sz="2700" dirty="0"/>
          </a:p>
        </p:txBody>
      </p:sp>
      <p:sp>
        <p:nvSpPr>
          <p:cNvPr id="6" name="Shape 3"/>
          <p:cNvSpPr/>
          <p:nvPr/>
        </p:nvSpPr>
        <p:spPr>
          <a:xfrm>
            <a:off x="548640" y="1627632"/>
            <a:ext cx="11064240" cy="868680"/>
          </a:xfrm>
          <a:prstGeom prst="roundRect">
            <a:avLst>
              <a:gd name="adj" fmla="val 10526"/>
            </a:avLst>
          </a:prstGeom>
          <a:solidFill>
            <a:srgbClr val="0E1430"/>
          </a:solidFill>
          <a:ln/>
          <a:effectLst>
            <a:outerShdw blurRad="101600" dist="38100" dir="5400000" algn="bl" rotWithShape="0">
              <a:srgbClr val="8995B0">
                <a:alpha val="22000"/>
              </a:srgbClr>
            </a:outerShdw>
          </a:effectLst>
        </p:spPr>
        <p:txBody>
          <a:bodyPr/>
          <a:lstStyle/>
          <a:p>
            <a:endParaRPr lang="en-US"/>
          </a:p>
        </p:txBody>
      </p:sp>
      <p:sp>
        <p:nvSpPr>
          <p:cNvPr id="7" name="Text 4"/>
          <p:cNvSpPr/>
          <p:nvPr/>
        </p:nvSpPr>
        <p:spPr>
          <a:xfrm>
            <a:off x="868680" y="1627632"/>
            <a:ext cx="10424160" cy="868680"/>
          </a:xfrm>
          <a:prstGeom prst="rect">
            <a:avLst/>
          </a:prstGeom>
          <a:noFill/>
          <a:ln/>
        </p:spPr>
        <p:txBody>
          <a:bodyPr wrap="square" rtlCol="0" anchor="ctr"/>
          <a:lstStyle/>
          <a:p>
            <a:pPr marL="0" indent="0">
              <a:lnSpc>
                <a:spcPct val="105000"/>
              </a:lnSpc>
              <a:buNone/>
            </a:pPr>
            <a:r>
              <a:rPr lang="en-US" sz="1450" b="1" dirty="0">
                <a:solidFill>
                  <a:srgbClr val="22D3EE"/>
                </a:solidFill>
                <a:latin typeface="Arial" pitchFamily="34" charset="0"/>
                <a:ea typeface="Arial" pitchFamily="34" charset="-122"/>
                <a:cs typeface="Arial" pitchFamily="34" charset="-120"/>
              </a:rPr>
              <a:t>FundChain </a:t>
            </a:r>
            <a:r>
              <a:rPr lang="en-US" sz="1450" dirty="0">
                <a:solidFill>
                  <a:srgbClr val="FFFFFF"/>
                </a:solidFill>
                <a:latin typeface="Arial" pitchFamily="34" charset="0"/>
                <a:ea typeface="Arial" pitchFamily="34" charset="-122"/>
                <a:cs typeface="Arial" pitchFamily="34" charset="-120"/>
              </a:rPr>
              <a:t>lets anyone launch a campaign whose funds are held by a </a:t>
            </a:r>
            <a:r>
              <a:rPr lang="en-US" sz="1450" b="1" dirty="0">
                <a:solidFill>
                  <a:srgbClr val="FFFFFF"/>
                </a:solidFill>
                <a:latin typeface="Arial" pitchFamily="34" charset="0"/>
                <a:ea typeface="Arial" pitchFamily="34" charset="-122"/>
                <a:cs typeface="Arial" pitchFamily="34" charset="-120"/>
              </a:rPr>
              <a:t>smart contract</a:t>
            </a:r>
            <a:r>
              <a:rPr lang="en-US" sz="1450" dirty="0">
                <a:solidFill>
                  <a:srgbClr val="FFFFFF"/>
                </a:solidFill>
                <a:latin typeface="Arial" pitchFamily="34" charset="0"/>
                <a:ea typeface="Arial" pitchFamily="34" charset="-122"/>
                <a:cs typeface="Arial" pitchFamily="34" charset="-120"/>
              </a:rPr>
              <a:t>, released to the creator only if the goal is met, and auto-refunded to backers if it isn't.</a:t>
            </a:r>
            <a:endParaRPr lang="en-US" sz="1450" dirty="0"/>
          </a:p>
        </p:txBody>
      </p:sp>
      <p:sp>
        <p:nvSpPr>
          <p:cNvPr id="8" name="Shape 5"/>
          <p:cNvSpPr/>
          <p:nvPr/>
        </p:nvSpPr>
        <p:spPr>
          <a:xfrm>
            <a:off x="548640" y="2743200"/>
            <a:ext cx="2615184" cy="310896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9" name="Shape 6"/>
          <p:cNvSpPr/>
          <p:nvPr/>
        </p:nvSpPr>
        <p:spPr>
          <a:xfrm>
            <a:off x="822960" y="3063240"/>
            <a:ext cx="713232" cy="713232"/>
          </a:xfrm>
          <a:prstGeom prst="ellipse">
            <a:avLst/>
          </a:prstGeom>
          <a:solidFill>
            <a:srgbClr val="EAF0F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996696" y="3236976"/>
            <a:ext cx="365760" cy="365760"/>
          </a:xfrm>
          <a:prstGeom prst="rect">
            <a:avLst/>
          </a:prstGeom>
        </p:spPr>
      </p:pic>
      <p:sp>
        <p:nvSpPr>
          <p:cNvPr id="11" name="Text 7"/>
          <p:cNvSpPr/>
          <p:nvPr/>
        </p:nvSpPr>
        <p:spPr>
          <a:xfrm>
            <a:off x="804672" y="3977640"/>
            <a:ext cx="2157984" cy="457200"/>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Trustless escrow</a:t>
            </a:r>
            <a:endParaRPr lang="en-US" sz="1600" dirty="0"/>
          </a:p>
        </p:txBody>
      </p:sp>
      <p:sp>
        <p:nvSpPr>
          <p:cNvPr id="12" name="Text 8"/>
          <p:cNvSpPr/>
          <p:nvPr/>
        </p:nvSpPr>
        <p:spPr>
          <a:xfrm>
            <a:off x="804672" y="4526280"/>
            <a:ext cx="2112264" cy="118872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No middleman holds the money, the contract does.</a:t>
            </a:r>
            <a:endParaRPr lang="en-US" sz="1250" dirty="0"/>
          </a:p>
        </p:txBody>
      </p:sp>
      <p:sp>
        <p:nvSpPr>
          <p:cNvPr id="13" name="Shape 9"/>
          <p:cNvSpPr/>
          <p:nvPr/>
        </p:nvSpPr>
        <p:spPr>
          <a:xfrm>
            <a:off x="3438144" y="2743200"/>
            <a:ext cx="2615184" cy="310896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4" name="Shape 10"/>
          <p:cNvSpPr/>
          <p:nvPr/>
        </p:nvSpPr>
        <p:spPr>
          <a:xfrm>
            <a:off x="3712464" y="3063240"/>
            <a:ext cx="713232" cy="713232"/>
          </a:xfrm>
          <a:prstGeom prst="ellipse">
            <a:avLst/>
          </a:prstGeom>
          <a:solidFill>
            <a:srgbClr val="EAF0FF"/>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886200" y="3236976"/>
            <a:ext cx="365760" cy="365760"/>
          </a:xfrm>
          <a:prstGeom prst="rect">
            <a:avLst/>
          </a:prstGeom>
        </p:spPr>
      </p:pic>
      <p:sp>
        <p:nvSpPr>
          <p:cNvPr id="16" name="Text 11"/>
          <p:cNvSpPr/>
          <p:nvPr/>
        </p:nvSpPr>
        <p:spPr>
          <a:xfrm>
            <a:off x="3694176" y="3977640"/>
            <a:ext cx="2157984" cy="457200"/>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Transparent ledger</a:t>
            </a:r>
            <a:endParaRPr lang="en-US" sz="1600" dirty="0"/>
          </a:p>
        </p:txBody>
      </p:sp>
      <p:sp>
        <p:nvSpPr>
          <p:cNvPr id="17" name="Text 12"/>
          <p:cNvSpPr/>
          <p:nvPr/>
        </p:nvSpPr>
        <p:spPr>
          <a:xfrm>
            <a:off x="3694176" y="4526280"/>
            <a:ext cx="2112264" cy="118872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Every contribution is public and verifiable on-chain.</a:t>
            </a:r>
            <a:endParaRPr lang="en-US" sz="1250" dirty="0"/>
          </a:p>
        </p:txBody>
      </p:sp>
      <p:sp>
        <p:nvSpPr>
          <p:cNvPr id="18" name="Shape 13"/>
          <p:cNvSpPr/>
          <p:nvPr/>
        </p:nvSpPr>
        <p:spPr>
          <a:xfrm>
            <a:off x="6327648" y="2743200"/>
            <a:ext cx="2615184" cy="310896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9" name="Shape 14"/>
          <p:cNvSpPr/>
          <p:nvPr/>
        </p:nvSpPr>
        <p:spPr>
          <a:xfrm>
            <a:off x="6601968" y="3063240"/>
            <a:ext cx="713232" cy="713232"/>
          </a:xfrm>
          <a:prstGeom prst="ellipse">
            <a:avLst/>
          </a:prstGeom>
          <a:solidFill>
            <a:srgbClr val="EAF0F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775704" y="3236976"/>
            <a:ext cx="365760" cy="365760"/>
          </a:xfrm>
          <a:prstGeom prst="rect">
            <a:avLst/>
          </a:prstGeom>
        </p:spPr>
      </p:pic>
      <p:sp>
        <p:nvSpPr>
          <p:cNvPr id="21" name="Text 15"/>
          <p:cNvSpPr/>
          <p:nvPr/>
        </p:nvSpPr>
        <p:spPr>
          <a:xfrm>
            <a:off x="6583680" y="3977640"/>
            <a:ext cx="2157984" cy="457200"/>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Automatic refunds</a:t>
            </a:r>
            <a:endParaRPr lang="en-US" sz="1600" dirty="0"/>
          </a:p>
        </p:txBody>
      </p:sp>
      <p:sp>
        <p:nvSpPr>
          <p:cNvPr id="22" name="Text 16"/>
          <p:cNvSpPr/>
          <p:nvPr/>
        </p:nvSpPr>
        <p:spPr>
          <a:xfrm>
            <a:off x="6583680" y="4526280"/>
            <a:ext cx="2112264" cy="118872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Goal missed? Backers reclaim funds via the contract.</a:t>
            </a:r>
            <a:endParaRPr lang="en-US" sz="1250" dirty="0"/>
          </a:p>
        </p:txBody>
      </p:sp>
      <p:sp>
        <p:nvSpPr>
          <p:cNvPr id="23" name="Shape 17"/>
          <p:cNvSpPr/>
          <p:nvPr/>
        </p:nvSpPr>
        <p:spPr>
          <a:xfrm>
            <a:off x="9217152" y="2743200"/>
            <a:ext cx="2615184" cy="3108960"/>
          </a:xfrm>
          <a:prstGeom prst="roundRect">
            <a:avLst>
              <a:gd name="adj" fmla="val 3497"/>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4" name="Shape 18"/>
          <p:cNvSpPr/>
          <p:nvPr/>
        </p:nvSpPr>
        <p:spPr>
          <a:xfrm>
            <a:off x="9491472" y="3063240"/>
            <a:ext cx="713232" cy="713232"/>
          </a:xfrm>
          <a:prstGeom prst="ellipse">
            <a:avLst/>
          </a:prstGeom>
          <a:solidFill>
            <a:srgbClr val="EAF0FF"/>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9665208" y="3236976"/>
            <a:ext cx="365760" cy="365760"/>
          </a:xfrm>
          <a:prstGeom prst="rect">
            <a:avLst/>
          </a:prstGeom>
        </p:spPr>
      </p:pic>
      <p:sp>
        <p:nvSpPr>
          <p:cNvPr id="26" name="Text 19"/>
          <p:cNvSpPr/>
          <p:nvPr/>
        </p:nvSpPr>
        <p:spPr>
          <a:xfrm>
            <a:off x="9473184" y="3977640"/>
            <a:ext cx="2157984" cy="457200"/>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Low, global access</a:t>
            </a:r>
            <a:endParaRPr lang="en-US" sz="1600" dirty="0"/>
          </a:p>
        </p:txBody>
      </p:sp>
      <p:sp>
        <p:nvSpPr>
          <p:cNvPr id="27" name="Text 20"/>
          <p:cNvSpPr/>
          <p:nvPr/>
        </p:nvSpPr>
        <p:spPr>
          <a:xfrm>
            <a:off x="9473184" y="4526280"/>
            <a:ext cx="2112264" cy="118872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Anyone with a wallet can fund, anywhere, low fees.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4F7CFF"/>
                </a:solidFill>
                <a:latin typeface="Arial" pitchFamily="34" charset="0"/>
                <a:ea typeface="Arial" pitchFamily="34" charset="-122"/>
                <a:cs typeface="Arial" pitchFamily="34" charset="-120"/>
              </a:rPr>
              <a:t>DESIGN</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System Architecture</a:t>
            </a:r>
            <a:endParaRPr lang="en-US" sz="2700" dirty="0"/>
          </a:p>
        </p:txBody>
      </p:sp>
      <p:sp>
        <p:nvSpPr>
          <p:cNvPr id="6" name="Shape 3"/>
          <p:cNvSpPr/>
          <p:nvPr/>
        </p:nvSpPr>
        <p:spPr>
          <a:xfrm>
            <a:off x="566928" y="2103120"/>
            <a:ext cx="2468880" cy="1828800"/>
          </a:xfrm>
          <a:prstGeom prst="roundRect">
            <a:avLst>
              <a:gd name="adj" fmla="val 600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Shape 4"/>
          <p:cNvSpPr/>
          <p:nvPr/>
        </p:nvSpPr>
        <p:spPr>
          <a:xfrm>
            <a:off x="1417320" y="2359152"/>
            <a:ext cx="768096" cy="768096"/>
          </a:xfrm>
          <a:prstGeom prst="ellipse">
            <a:avLst/>
          </a:prstGeom>
          <a:solidFill>
            <a:srgbClr val="4F7C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600200" y="2542032"/>
            <a:ext cx="402336" cy="402336"/>
          </a:xfrm>
          <a:prstGeom prst="rect">
            <a:avLst/>
          </a:prstGeom>
        </p:spPr>
      </p:pic>
      <p:sp>
        <p:nvSpPr>
          <p:cNvPr id="9" name="Text 5"/>
          <p:cNvSpPr/>
          <p:nvPr/>
        </p:nvSpPr>
        <p:spPr>
          <a:xfrm>
            <a:off x="658368" y="3200400"/>
            <a:ext cx="2286000" cy="347472"/>
          </a:xfrm>
          <a:prstGeom prst="rect">
            <a:avLst/>
          </a:prstGeom>
          <a:noFill/>
          <a:ln/>
        </p:spPr>
        <p:txBody>
          <a:bodyPr wrap="square" rtlCol="0" anchor="ctr"/>
          <a:lstStyle/>
          <a:p>
            <a:pPr marL="0" indent="0" algn="ctr">
              <a:buNone/>
            </a:pPr>
            <a:r>
              <a:rPr lang="en-US" sz="1550" b="1" dirty="0">
                <a:solidFill>
                  <a:srgbClr val="16203A"/>
                </a:solidFill>
                <a:latin typeface="Cambria" pitchFamily="34" charset="0"/>
                <a:ea typeface="Cambria" pitchFamily="34" charset="-122"/>
                <a:cs typeface="Cambria" pitchFamily="34" charset="-120"/>
              </a:rPr>
              <a:t>User</a:t>
            </a:r>
            <a:endParaRPr lang="en-US" sz="1550" dirty="0"/>
          </a:p>
        </p:txBody>
      </p:sp>
      <p:sp>
        <p:nvSpPr>
          <p:cNvPr id="10" name="Text 6"/>
          <p:cNvSpPr/>
          <p:nvPr/>
        </p:nvSpPr>
        <p:spPr>
          <a:xfrm>
            <a:off x="658368" y="3547872"/>
            <a:ext cx="2286000" cy="329184"/>
          </a:xfrm>
          <a:prstGeom prst="rect">
            <a:avLst/>
          </a:prstGeom>
          <a:noFill/>
          <a:ln/>
        </p:spPr>
        <p:txBody>
          <a:bodyPr wrap="square" rtlCol="0" anchor="ctr"/>
          <a:lstStyle/>
          <a:p>
            <a:pPr marL="0" indent="0" algn="ctr">
              <a:buNone/>
            </a:pPr>
            <a:r>
              <a:rPr lang="en-US" sz="1100" dirty="0">
                <a:solidFill>
                  <a:srgbClr val="64708A"/>
                </a:solidFill>
                <a:latin typeface="Arial" pitchFamily="34" charset="0"/>
                <a:ea typeface="Arial" pitchFamily="34" charset="-122"/>
                <a:cs typeface="Arial" pitchFamily="34" charset="-120"/>
              </a:rPr>
              <a:t>Browser + MetaMask wallet</a:t>
            </a:r>
            <a:endParaRPr lang="en-US" sz="1100" dirty="0"/>
          </a:p>
        </p:txBody>
      </p:sp>
      <p:pic>
        <p:nvPicPr>
          <p:cNvPr id="11" name="Image 2" descr="preencoded.png"/>
          <p:cNvPicPr>
            <a:picLocks noChangeAspect="1"/>
          </p:cNvPicPr>
          <p:nvPr/>
        </p:nvPicPr>
        <p:blipFill>
          <a:blip r:embed="rId5"/>
          <a:stretch>
            <a:fillRect/>
          </a:stretch>
        </p:blipFill>
        <p:spPr>
          <a:xfrm>
            <a:off x="3163824" y="2871216"/>
            <a:ext cx="292608" cy="292608"/>
          </a:xfrm>
          <a:prstGeom prst="rect">
            <a:avLst/>
          </a:prstGeom>
        </p:spPr>
      </p:pic>
      <p:sp>
        <p:nvSpPr>
          <p:cNvPr id="12" name="Shape 7"/>
          <p:cNvSpPr/>
          <p:nvPr/>
        </p:nvSpPr>
        <p:spPr>
          <a:xfrm>
            <a:off x="3602736" y="2103120"/>
            <a:ext cx="2468880" cy="1828800"/>
          </a:xfrm>
          <a:prstGeom prst="roundRect">
            <a:avLst>
              <a:gd name="adj" fmla="val 600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3" name="Shape 8"/>
          <p:cNvSpPr/>
          <p:nvPr/>
        </p:nvSpPr>
        <p:spPr>
          <a:xfrm>
            <a:off x="4453128" y="2359152"/>
            <a:ext cx="768096" cy="768096"/>
          </a:xfrm>
          <a:prstGeom prst="ellipse">
            <a:avLst/>
          </a:prstGeom>
          <a:solidFill>
            <a:srgbClr val="22D3EE"/>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4636008" y="2542032"/>
            <a:ext cx="402336" cy="402336"/>
          </a:xfrm>
          <a:prstGeom prst="rect">
            <a:avLst/>
          </a:prstGeom>
        </p:spPr>
      </p:pic>
      <p:sp>
        <p:nvSpPr>
          <p:cNvPr id="15" name="Text 9"/>
          <p:cNvSpPr/>
          <p:nvPr/>
        </p:nvSpPr>
        <p:spPr>
          <a:xfrm>
            <a:off x="3694176" y="3200400"/>
            <a:ext cx="2286000" cy="347472"/>
          </a:xfrm>
          <a:prstGeom prst="rect">
            <a:avLst/>
          </a:prstGeom>
          <a:noFill/>
          <a:ln/>
        </p:spPr>
        <p:txBody>
          <a:bodyPr wrap="square" rtlCol="0" anchor="ctr"/>
          <a:lstStyle/>
          <a:p>
            <a:pPr marL="0" indent="0" algn="ctr">
              <a:buNone/>
            </a:pPr>
            <a:r>
              <a:rPr lang="en-US" sz="1550" b="1" dirty="0">
                <a:solidFill>
                  <a:srgbClr val="16203A"/>
                </a:solidFill>
                <a:latin typeface="Cambria" pitchFamily="34" charset="0"/>
                <a:ea typeface="Cambria" pitchFamily="34" charset="-122"/>
                <a:cs typeface="Cambria" pitchFamily="34" charset="-120"/>
              </a:rPr>
              <a:t>Frontend dApp</a:t>
            </a:r>
            <a:endParaRPr lang="en-US" sz="1550" dirty="0"/>
          </a:p>
        </p:txBody>
      </p:sp>
      <p:sp>
        <p:nvSpPr>
          <p:cNvPr id="16" name="Text 10"/>
          <p:cNvSpPr/>
          <p:nvPr/>
        </p:nvSpPr>
        <p:spPr>
          <a:xfrm>
            <a:off x="3694176" y="3547872"/>
            <a:ext cx="2286000" cy="329184"/>
          </a:xfrm>
          <a:prstGeom prst="rect">
            <a:avLst/>
          </a:prstGeom>
          <a:noFill/>
          <a:ln/>
        </p:spPr>
        <p:txBody>
          <a:bodyPr wrap="square" rtlCol="0" anchor="ctr"/>
          <a:lstStyle/>
          <a:p>
            <a:pPr marL="0" indent="0" algn="ctr">
              <a:buNone/>
            </a:pPr>
            <a:r>
              <a:rPr lang="en-US" sz="1100" dirty="0">
                <a:solidFill>
                  <a:srgbClr val="64708A"/>
                </a:solidFill>
                <a:latin typeface="Arial" pitchFamily="34" charset="0"/>
                <a:ea typeface="Arial" pitchFamily="34" charset="-122"/>
                <a:cs typeface="Arial" pitchFamily="34" charset="-120"/>
              </a:rPr>
              <a:t>React + ethers.js UI</a:t>
            </a:r>
            <a:endParaRPr lang="en-US" sz="1100" dirty="0"/>
          </a:p>
        </p:txBody>
      </p:sp>
      <p:pic>
        <p:nvPicPr>
          <p:cNvPr id="17" name="Image 4" descr="preencoded.png"/>
          <p:cNvPicPr>
            <a:picLocks noChangeAspect="1"/>
          </p:cNvPicPr>
          <p:nvPr/>
        </p:nvPicPr>
        <p:blipFill>
          <a:blip r:embed="rId5"/>
          <a:stretch>
            <a:fillRect/>
          </a:stretch>
        </p:blipFill>
        <p:spPr>
          <a:xfrm>
            <a:off x="6199632" y="2871216"/>
            <a:ext cx="292608" cy="292608"/>
          </a:xfrm>
          <a:prstGeom prst="rect">
            <a:avLst/>
          </a:prstGeom>
        </p:spPr>
      </p:pic>
      <p:sp>
        <p:nvSpPr>
          <p:cNvPr id="18" name="Shape 11"/>
          <p:cNvSpPr/>
          <p:nvPr/>
        </p:nvSpPr>
        <p:spPr>
          <a:xfrm>
            <a:off x="6638544" y="2103120"/>
            <a:ext cx="2468880" cy="1828800"/>
          </a:xfrm>
          <a:prstGeom prst="roundRect">
            <a:avLst>
              <a:gd name="adj" fmla="val 600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9" name="Shape 12"/>
          <p:cNvSpPr/>
          <p:nvPr/>
        </p:nvSpPr>
        <p:spPr>
          <a:xfrm>
            <a:off x="7488936" y="2359152"/>
            <a:ext cx="768096" cy="768096"/>
          </a:xfrm>
          <a:prstGeom prst="ellipse">
            <a:avLst/>
          </a:prstGeom>
          <a:solidFill>
            <a:srgbClr val="2DD4A7"/>
          </a:solidFill>
          <a:ln/>
        </p:spPr>
        <p:txBody>
          <a:bodyPr/>
          <a:lstStyle/>
          <a:p>
            <a:endParaRPr lang="en-US"/>
          </a:p>
        </p:txBody>
      </p:sp>
      <p:pic>
        <p:nvPicPr>
          <p:cNvPr id="20" name="Image 5" descr="preencoded.png"/>
          <p:cNvPicPr>
            <a:picLocks noChangeAspect="1"/>
          </p:cNvPicPr>
          <p:nvPr/>
        </p:nvPicPr>
        <p:blipFill>
          <a:blip r:embed="rId7"/>
          <a:stretch>
            <a:fillRect/>
          </a:stretch>
        </p:blipFill>
        <p:spPr>
          <a:xfrm>
            <a:off x="7671816" y="2542032"/>
            <a:ext cx="402336" cy="402336"/>
          </a:xfrm>
          <a:prstGeom prst="rect">
            <a:avLst/>
          </a:prstGeom>
        </p:spPr>
      </p:pic>
      <p:sp>
        <p:nvSpPr>
          <p:cNvPr id="21" name="Text 13"/>
          <p:cNvSpPr/>
          <p:nvPr/>
        </p:nvSpPr>
        <p:spPr>
          <a:xfrm>
            <a:off x="6729984" y="3200400"/>
            <a:ext cx="2286000" cy="347472"/>
          </a:xfrm>
          <a:prstGeom prst="rect">
            <a:avLst/>
          </a:prstGeom>
          <a:noFill/>
          <a:ln/>
        </p:spPr>
        <p:txBody>
          <a:bodyPr wrap="square" rtlCol="0" anchor="ctr"/>
          <a:lstStyle/>
          <a:p>
            <a:pPr marL="0" indent="0" algn="ctr">
              <a:buNone/>
            </a:pPr>
            <a:r>
              <a:rPr lang="en-US" sz="1550" b="1" dirty="0">
                <a:solidFill>
                  <a:srgbClr val="16203A"/>
                </a:solidFill>
                <a:latin typeface="Cambria" pitchFamily="34" charset="0"/>
                <a:ea typeface="Cambria" pitchFamily="34" charset="-122"/>
                <a:cs typeface="Cambria" pitchFamily="34" charset="-120"/>
              </a:rPr>
              <a:t>Smart Contract</a:t>
            </a:r>
            <a:endParaRPr lang="en-US" sz="1550" dirty="0"/>
          </a:p>
        </p:txBody>
      </p:sp>
      <p:sp>
        <p:nvSpPr>
          <p:cNvPr id="22" name="Text 14"/>
          <p:cNvSpPr/>
          <p:nvPr/>
        </p:nvSpPr>
        <p:spPr>
          <a:xfrm>
            <a:off x="6729984" y="3547872"/>
            <a:ext cx="2286000" cy="329184"/>
          </a:xfrm>
          <a:prstGeom prst="rect">
            <a:avLst/>
          </a:prstGeom>
          <a:noFill/>
          <a:ln/>
        </p:spPr>
        <p:txBody>
          <a:bodyPr wrap="square" rtlCol="0" anchor="ctr"/>
          <a:lstStyle/>
          <a:p>
            <a:pPr marL="0" indent="0" algn="ctr">
              <a:buNone/>
            </a:pPr>
            <a:r>
              <a:rPr lang="en-US" sz="1100" dirty="0">
                <a:solidFill>
                  <a:srgbClr val="64708A"/>
                </a:solidFill>
                <a:latin typeface="Arial" pitchFamily="34" charset="0"/>
                <a:ea typeface="Arial" pitchFamily="34" charset="-122"/>
                <a:cs typeface="Arial" pitchFamily="34" charset="-120"/>
              </a:rPr>
              <a:t>Solidity logic on-chain</a:t>
            </a:r>
            <a:endParaRPr lang="en-US" sz="1100" dirty="0"/>
          </a:p>
        </p:txBody>
      </p:sp>
      <p:pic>
        <p:nvPicPr>
          <p:cNvPr id="23" name="Image 6" descr="preencoded.png"/>
          <p:cNvPicPr>
            <a:picLocks noChangeAspect="1"/>
          </p:cNvPicPr>
          <p:nvPr/>
        </p:nvPicPr>
        <p:blipFill>
          <a:blip r:embed="rId5"/>
          <a:stretch>
            <a:fillRect/>
          </a:stretch>
        </p:blipFill>
        <p:spPr>
          <a:xfrm>
            <a:off x="9235440" y="2871216"/>
            <a:ext cx="292608" cy="292608"/>
          </a:xfrm>
          <a:prstGeom prst="rect">
            <a:avLst/>
          </a:prstGeom>
        </p:spPr>
      </p:pic>
      <p:sp>
        <p:nvSpPr>
          <p:cNvPr id="24" name="Shape 15"/>
          <p:cNvSpPr/>
          <p:nvPr/>
        </p:nvSpPr>
        <p:spPr>
          <a:xfrm>
            <a:off x="9674352" y="2103120"/>
            <a:ext cx="2468880" cy="1828800"/>
          </a:xfrm>
          <a:prstGeom prst="roundRect">
            <a:avLst>
              <a:gd name="adj" fmla="val 6000"/>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5" name="Shape 16"/>
          <p:cNvSpPr/>
          <p:nvPr/>
        </p:nvSpPr>
        <p:spPr>
          <a:xfrm>
            <a:off x="10524744" y="2359152"/>
            <a:ext cx="768096" cy="768096"/>
          </a:xfrm>
          <a:prstGeom prst="ellipse">
            <a:avLst/>
          </a:prstGeom>
          <a:solidFill>
            <a:srgbClr val="F5B544"/>
          </a:solidFill>
          <a:ln/>
        </p:spPr>
        <p:txBody>
          <a:bodyPr/>
          <a:lstStyle/>
          <a:p>
            <a:endParaRPr lang="en-US"/>
          </a:p>
        </p:txBody>
      </p:sp>
      <p:pic>
        <p:nvPicPr>
          <p:cNvPr id="26" name="Image 7" descr="preencoded.png"/>
          <p:cNvPicPr>
            <a:picLocks noChangeAspect="1"/>
          </p:cNvPicPr>
          <p:nvPr/>
        </p:nvPicPr>
        <p:blipFill>
          <a:blip r:embed="rId8"/>
          <a:stretch>
            <a:fillRect/>
          </a:stretch>
        </p:blipFill>
        <p:spPr>
          <a:xfrm>
            <a:off x="10707624" y="2542032"/>
            <a:ext cx="402336" cy="402336"/>
          </a:xfrm>
          <a:prstGeom prst="rect">
            <a:avLst/>
          </a:prstGeom>
        </p:spPr>
      </p:pic>
      <p:sp>
        <p:nvSpPr>
          <p:cNvPr id="27" name="Text 17"/>
          <p:cNvSpPr/>
          <p:nvPr/>
        </p:nvSpPr>
        <p:spPr>
          <a:xfrm>
            <a:off x="9765792" y="3200400"/>
            <a:ext cx="2286000" cy="347472"/>
          </a:xfrm>
          <a:prstGeom prst="rect">
            <a:avLst/>
          </a:prstGeom>
          <a:noFill/>
          <a:ln/>
        </p:spPr>
        <p:txBody>
          <a:bodyPr wrap="square" rtlCol="0" anchor="ctr"/>
          <a:lstStyle/>
          <a:p>
            <a:pPr marL="0" indent="0" algn="ctr">
              <a:buNone/>
            </a:pPr>
            <a:r>
              <a:rPr lang="en-US" sz="1550" b="1" dirty="0">
                <a:solidFill>
                  <a:srgbClr val="16203A"/>
                </a:solidFill>
                <a:latin typeface="Cambria" pitchFamily="34" charset="0"/>
                <a:ea typeface="Cambria" pitchFamily="34" charset="-122"/>
                <a:cs typeface="Cambria" pitchFamily="34" charset="-120"/>
              </a:rPr>
              <a:t>Blockchain</a:t>
            </a:r>
            <a:endParaRPr lang="en-US" sz="1550" dirty="0"/>
          </a:p>
        </p:txBody>
      </p:sp>
      <p:sp>
        <p:nvSpPr>
          <p:cNvPr id="28" name="Text 18"/>
          <p:cNvSpPr/>
          <p:nvPr/>
        </p:nvSpPr>
        <p:spPr>
          <a:xfrm>
            <a:off x="9765792" y="3547872"/>
            <a:ext cx="2286000" cy="329184"/>
          </a:xfrm>
          <a:prstGeom prst="rect">
            <a:avLst/>
          </a:prstGeom>
          <a:noFill/>
          <a:ln/>
        </p:spPr>
        <p:txBody>
          <a:bodyPr wrap="square" rtlCol="0" anchor="ctr"/>
          <a:lstStyle/>
          <a:p>
            <a:pPr marL="0" indent="0" algn="ctr">
              <a:buNone/>
            </a:pPr>
            <a:r>
              <a:rPr lang="en-US" sz="1100" dirty="0">
                <a:solidFill>
                  <a:srgbClr val="64708A"/>
                </a:solidFill>
                <a:latin typeface="Arial" pitchFamily="34" charset="0"/>
                <a:ea typeface="Arial" pitchFamily="34" charset="-122"/>
                <a:cs typeface="Arial" pitchFamily="34" charset="-120"/>
              </a:rPr>
              <a:t>Ethereum Sepolia testnet</a:t>
            </a:r>
            <a:endParaRPr lang="en-US" sz="1100" dirty="0"/>
          </a:p>
        </p:txBody>
      </p:sp>
      <p:sp>
        <p:nvSpPr>
          <p:cNvPr id="29" name="Shape 19"/>
          <p:cNvSpPr/>
          <p:nvPr/>
        </p:nvSpPr>
        <p:spPr>
          <a:xfrm>
            <a:off x="6181344" y="4434840"/>
            <a:ext cx="3383280" cy="960120"/>
          </a:xfrm>
          <a:prstGeom prst="roundRect">
            <a:avLst>
              <a:gd name="adj" fmla="val 9524"/>
            </a:avLst>
          </a:prstGeom>
          <a:solidFill>
            <a:srgbClr val="F0FBF7"/>
          </a:solidFill>
          <a:ln w="12700">
            <a:solidFill>
              <a:srgbClr val="BFEBDD"/>
            </a:solidFill>
            <a:prstDash val="solid"/>
          </a:ln>
        </p:spPr>
        <p:txBody>
          <a:bodyPr/>
          <a:lstStyle/>
          <a:p>
            <a:endParaRPr lang="en-US"/>
          </a:p>
        </p:txBody>
      </p:sp>
      <p:sp>
        <p:nvSpPr>
          <p:cNvPr id="30" name="Shape 20"/>
          <p:cNvSpPr/>
          <p:nvPr/>
        </p:nvSpPr>
        <p:spPr>
          <a:xfrm>
            <a:off x="6382512" y="4663440"/>
            <a:ext cx="493776" cy="493776"/>
          </a:xfrm>
          <a:prstGeom prst="ellipse">
            <a:avLst/>
          </a:prstGeom>
          <a:solidFill>
            <a:srgbClr val="2DD4A7"/>
          </a:solidFill>
          <a:ln/>
        </p:spPr>
        <p:txBody>
          <a:bodyPr/>
          <a:lstStyle/>
          <a:p>
            <a:endParaRPr lang="en-US"/>
          </a:p>
        </p:txBody>
      </p:sp>
      <p:pic>
        <p:nvPicPr>
          <p:cNvPr id="31" name="Image 8" descr="preencoded.png"/>
          <p:cNvPicPr>
            <a:picLocks noChangeAspect="1"/>
          </p:cNvPicPr>
          <p:nvPr/>
        </p:nvPicPr>
        <p:blipFill>
          <a:blip r:embed="rId9"/>
          <a:stretch>
            <a:fillRect/>
          </a:stretch>
        </p:blipFill>
        <p:spPr>
          <a:xfrm>
            <a:off x="6510528" y="4791456"/>
            <a:ext cx="237744" cy="237744"/>
          </a:xfrm>
          <a:prstGeom prst="rect">
            <a:avLst/>
          </a:prstGeom>
        </p:spPr>
      </p:pic>
      <p:sp>
        <p:nvSpPr>
          <p:cNvPr id="32" name="Text 21"/>
          <p:cNvSpPr/>
          <p:nvPr/>
        </p:nvSpPr>
        <p:spPr>
          <a:xfrm>
            <a:off x="6958584" y="4526280"/>
            <a:ext cx="2560320" cy="777240"/>
          </a:xfrm>
          <a:prstGeom prst="rect">
            <a:avLst/>
          </a:prstGeom>
          <a:noFill/>
          <a:ln/>
        </p:spPr>
        <p:txBody>
          <a:bodyPr wrap="square" rtlCol="0" anchor="ctr"/>
          <a:lstStyle/>
          <a:p>
            <a:pPr marL="0" indent="0">
              <a:lnSpc>
                <a:spcPct val="105000"/>
              </a:lnSpc>
              <a:buNone/>
            </a:pPr>
            <a:r>
              <a:rPr lang="en-US" sz="1300" b="1" dirty="0">
                <a:solidFill>
                  <a:srgbClr val="16203A"/>
                </a:solidFill>
                <a:latin typeface="Arial" pitchFamily="34" charset="0"/>
                <a:ea typeface="Arial" pitchFamily="34" charset="-122"/>
                <a:cs typeface="Arial" pitchFamily="34" charset="-120"/>
              </a:rPr>
              <a:t>Off-chain storage  </a:t>
            </a:r>
            <a:r>
              <a:rPr lang="en-US" sz="1200" dirty="0">
                <a:solidFill>
                  <a:srgbClr val="64708A"/>
                </a:solidFill>
                <a:latin typeface="Arial" pitchFamily="34" charset="0"/>
                <a:ea typeface="Arial" pitchFamily="34" charset="-122"/>
                <a:cs typeface="Arial" pitchFamily="34" charset="-120"/>
              </a:rPr>
              <a:t>(IPFS / Pinata)</a:t>
            </a:r>
            <a:endParaRPr lang="en-US" sz="1300" dirty="0"/>
          </a:p>
          <a:p>
            <a:pPr marL="0" indent="0">
              <a:lnSpc>
                <a:spcPct val="105000"/>
              </a:lnSpc>
              <a:buNone/>
            </a:pPr>
            <a:r>
              <a:rPr lang="en-US" sz="1150" dirty="0">
                <a:solidFill>
                  <a:srgbClr val="64708A"/>
                </a:solidFill>
                <a:latin typeface="Arial" pitchFamily="34" charset="0"/>
                <a:ea typeface="Arial" pitchFamily="34" charset="-122"/>
                <a:cs typeface="Arial" pitchFamily="34" charset="-120"/>
              </a:rPr>
              <a:t>Campaign images &amp; descriptions; only the hash is stored on-chain.</a:t>
            </a:r>
            <a:endParaRPr lang="en-US" sz="1300" dirty="0"/>
          </a:p>
        </p:txBody>
      </p:sp>
      <p:sp>
        <p:nvSpPr>
          <p:cNvPr id="33" name="Shape 22"/>
          <p:cNvSpPr/>
          <p:nvPr/>
        </p:nvSpPr>
        <p:spPr>
          <a:xfrm>
            <a:off x="7872984" y="3931920"/>
            <a:ext cx="0" cy="502920"/>
          </a:xfrm>
          <a:prstGeom prst="line">
            <a:avLst/>
          </a:prstGeom>
          <a:noFill/>
          <a:ln w="19050">
            <a:solidFill>
              <a:srgbClr val="2DD4A7"/>
            </a:solidFill>
            <a:prstDash val="dash"/>
          </a:ln>
        </p:spPr>
        <p:txBody>
          <a:bodyPr/>
          <a:lstStyle/>
          <a:p>
            <a:endParaRPr lang="en-US"/>
          </a:p>
        </p:txBody>
      </p:sp>
      <p:sp>
        <p:nvSpPr>
          <p:cNvPr id="34" name="Text 23"/>
          <p:cNvSpPr/>
          <p:nvPr/>
        </p:nvSpPr>
        <p:spPr>
          <a:xfrm>
            <a:off x="566928" y="5669280"/>
            <a:ext cx="11064240" cy="548640"/>
          </a:xfrm>
          <a:prstGeom prst="rect">
            <a:avLst/>
          </a:prstGeom>
          <a:noFill/>
          <a:ln/>
        </p:spPr>
        <p:txBody>
          <a:bodyPr wrap="square" rtlCol="0" anchor="ctr"/>
          <a:lstStyle/>
          <a:p>
            <a:pPr marL="0" indent="0" algn="ctr">
              <a:buNone/>
            </a:pPr>
            <a:r>
              <a:rPr lang="en-US" sz="1250" i="1" dirty="0">
                <a:solidFill>
                  <a:srgbClr val="64708A"/>
                </a:solidFill>
                <a:latin typeface="Arial" pitchFamily="34" charset="0"/>
                <a:ea typeface="Arial" pitchFamily="34" charset="-122"/>
                <a:cs typeface="Arial" pitchFamily="34" charset="-120"/>
              </a:rPr>
              <a:t>Flow:  a user signs a transaction in MetaMask  →  the dApp calls the contract  →  the contract updates state on Sepolia  →  large files live on IPFS, referenced by hash.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4F7CFF"/>
                </a:solidFill>
                <a:latin typeface="Arial" pitchFamily="34" charset="0"/>
                <a:ea typeface="Arial" pitchFamily="34" charset="-122"/>
                <a:cs typeface="Arial" pitchFamily="34" charset="-120"/>
              </a:rPr>
              <a:t>ON-CHAIN LOGIC</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Smart Contract Design</a:t>
            </a:r>
            <a:endParaRPr lang="en-US" sz="2700" dirty="0"/>
          </a:p>
        </p:txBody>
      </p:sp>
      <p:sp>
        <p:nvSpPr>
          <p:cNvPr id="6" name="Shape 3"/>
          <p:cNvSpPr/>
          <p:nvPr/>
        </p:nvSpPr>
        <p:spPr>
          <a:xfrm>
            <a:off x="548640" y="1691640"/>
            <a:ext cx="5989320" cy="4343400"/>
          </a:xfrm>
          <a:prstGeom prst="roundRect">
            <a:avLst>
              <a:gd name="adj" fmla="val 1684"/>
            </a:avLst>
          </a:prstGeom>
          <a:solidFill>
            <a:srgbClr val="0E1430"/>
          </a:solidFill>
          <a:ln/>
          <a:effectLst>
            <a:outerShdw blurRad="101600" dist="38100" dir="5400000" algn="bl" rotWithShape="0">
              <a:srgbClr val="8995B0">
                <a:alpha val="22000"/>
              </a:srgbClr>
            </a:outerShdw>
          </a:effectLst>
        </p:spPr>
        <p:txBody>
          <a:bodyPr/>
          <a:lstStyle/>
          <a:p>
            <a:endParaRPr lang="en-US"/>
          </a:p>
        </p:txBody>
      </p:sp>
      <p:sp>
        <p:nvSpPr>
          <p:cNvPr id="7" name="Shape 4"/>
          <p:cNvSpPr/>
          <p:nvPr/>
        </p:nvSpPr>
        <p:spPr>
          <a:xfrm>
            <a:off x="777240" y="1901952"/>
            <a:ext cx="109728" cy="109728"/>
          </a:xfrm>
          <a:prstGeom prst="ellipse">
            <a:avLst/>
          </a:prstGeom>
          <a:solidFill>
            <a:srgbClr val="FF5F57"/>
          </a:solidFill>
          <a:ln/>
        </p:spPr>
        <p:txBody>
          <a:bodyPr/>
          <a:lstStyle/>
          <a:p>
            <a:endParaRPr lang="en-US"/>
          </a:p>
        </p:txBody>
      </p:sp>
      <p:sp>
        <p:nvSpPr>
          <p:cNvPr id="8" name="Shape 5"/>
          <p:cNvSpPr/>
          <p:nvPr/>
        </p:nvSpPr>
        <p:spPr>
          <a:xfrm>
            <a:off x="950976" y="1901952"/>
            <a:ext cx="109728" cy="109728"/>
          </a:xfrm>
          <a:prstGeom prst="ellipse">
            <a:avLst/>
          </a:prstGeom>
          <a:solidFill>
            <a:srgbClr val="FEBC2E"/>
          </a:solidFill>
          <a:ln/>
        </p:spPr>
        <p:txBody>
          <a:bodyPr/>
          <a:lstStyle/>
          <a:p>
            <a:endParaRPr lang="en-US"/>
          </a:p>
        </p:txBody>
      </p:sp>
      <p:sp>
        <p:nvSpPr>
          <p:cNvPr id="9" name="Shape 6"/>
          <p:cNvSpPr/>
          <p:nvPr/>
        </p:nvSpPr>
        <p:spPr>
          <a:xfrm>
            <a:off x="1124712" y="1901952"/>
            <a:ext cx="109728" cy="109728"/>
          </a:xfrm>
          <a:prstGeom prst="ellipse">
            <a:avLst/>
          </a:prstGeom>
          <a:solidFill>
            <a:srgbClr val="28C840"/>
          </a:solidFill>
          <a:ln/>
        </p:spPr>
        <p:txBody>
          <a:bodyPr/>
          <a:lstStyle/>
          <a:p>
            <a:endParaRPr lang="en-US"/>
          </a:p>
        </p:txBody>
      </p:sp>
      <p:sp>
        <p:nvSpPr>
          <p:cNvPr id="10" name="Text 7"/>
          <p:cNvSpPr/>
          <p:nvPr/>
        </p:nvSpPr>
        <p:spPr>
          <a:xfrm>
            <a:off x="1371600" y="1810512"/>
            <a:ext cx="3657600" cy="274320"/>
          </a:xfrm>
          <a:prstGeom prst="rect">
            <a:avLst/>
          </a:prstGeom>
          <a:noFill/>
          <a:ln/>
        </p:spPr>
        <p:txBody>
          <a:bodyPr wrap="square" rtlCol="0" anchor="ctr"/>
          <a:lstStyle/>
          <a:p>
            <a:pPr marL="0" indent="0">
              <a:buNone/>
            </a:pPr>
            <a:r>
              <a:rPr lang="en-US" sz="1100" dirty="0">
                <a:solidFill>
                  <a:srgbClr val="8E9BBC"/>
                </a:solidFill>
                <a:latin typeface="Courier New" pitchFamily="34" charset="0"/>
                <a:ea typeface="Courier New" pitchFamily="34" charset="-122"/>
                <a:cs typeface="Courier New" pitchFamily="34" charset="-120"/>
              </a:rPr>
              <a:t>Campaign.sol</a:t>
            </a:r>
            <a:endParaRPr lang="en-US" sz="1100" dirty="0"/>
          </a:p>
        </p:txBody>
      </p:sp>
      <p:sp>
        <p:nvSpPr>
          <p:cNvPr id="11" name="Text 8"/>
          <p:cNvSpPr/>
          <p:nvPr/>
        </p:nvSpPr>
        <p:spPr>
          <a:xfrm>
            <a:off x="777240" y="2240280"/>
            <a:ext cx="5577840" cy="3566160"/>
          </a:xfrm>
          <a:prstGeom prst="rect">
            <a:avLst/>
          </a:prstGeom>
          <a:noFill/>
          <a:ln/>
        </p:spPr>
        <p:txBody>
          <a:bodyPr wrap="square" rtlCol="0" anchor="t"/>
          <a:lstStyle/>
          <a:p>
            <a:pPr marL="0" indent="0">
              <a:lnSpc>
                <a:spcPct val="118000"/>
              </a:lnSpc>
              <a:buNone/>
            </a:pPr>
            <a:r>
              <a:rPr lang="en-US" sz="1350" dirty="0">
                <a:solidFill>
                  <a:srgbClr val="7AA2FF"/>
                </a:solidFill>
                <a:latin typeface="Courier New" pitchFamily="34" charset="0"/>
                <a:ea typeface="Courier New" pitchFamily="34" charset="-122"/>
                <a:cs typeface="Courier New" pitchFamily="34" charset="-120"/>
              </a:rPr>
              <a:t>contract </a:t>
            </a:r>
            <a:r>
              <a:rPr lang="en-US" sz="1350" dirty="0">
                <a:solidFill>
                  <a:srgbClr val="5EEAD4"/>
                </a:solidFill>
                <a:latin typeface="Courier New" pitchFamily="34" charset="0"/>
                <a:ea typeface="Courier New" pitchFamily="34" charset="-122"/>
                <a:cs typeface="Courier New" pitchFamily="34" charset="-120"/>
              </a:rPr>
              <a:t>FundChain </a:t>
            </a:r>
            <a:r>
              <a:rPr lang="en-US" sz="1350" dirty="0">
                <a:solidFill>
                  <a:srgbClr val="C7D2E8"/>
                </a:solidFill>
                <a:latin typeface="Courier New" pitchFamily="34" charset="0"/>
                <a:ea typeface="Courier New" pitchFamily="34" charset="-122"/>
                <a:cs typeface="Courier New" pitchFamily="34" charset="-120"/>
              </a:rPr>
              <a:t>{
</a:t>
            </a:r>
            <a:r>
              <a:rPr lang="en-US" sz="1350" dirty="0">
                <a:solidFill>
                  <a:srgbClr val="7AA2FF"/>
                </a:solidFill>
                <a:latin typeface="Courier New" pitchFamily="34" charset="0"/>
                <a:ea typeface="Courier New" pitchFamily="34" charset="-122"/>
                <a:cs typeface="Courier New" pitchFamily="34" charset="-120"/>
              </a:rPr>
              <a:t>  address </a:t>
            </a:r>
            <a:r>
              <a:rPr lang="en-US" sz="1350" dirty="0">
                <a:solidFill>
                  <a:srgbClr val="C7D2E8"/>
                </a:solidFill>
                <a:latin typeface="Courier New" pitchFamily="34" charset="0"/>
                <a:ea typeface="Courier New" pitchFamily="34" charset="-122"/>
                <a:cs typeface="Courier New" pitchFamily="34" charset="-120"/>
              </a:rPr>
              <a:t>public owner;
</a:t>
            </a:r>
            <a:r>
              <a:rPr lang="en-US" sz="1350" dirty="0">
                <a:solidFill>
                  <a:srgbClr val="7AA2FF"/>
                </a:solidFill>
                <a:latin typeface="Courier New" pitchFamily="34" charset="0"/>
                <a:ea typeface="Courier New" pitchFamily="34" charset="-122"/>
                <a:cs typeface="Courier New" pitchFamily="34" charset="-120"/>
              </a:rPr>
              <a:t>  uint </a:t>
            </a:r>
            <a:r>
              <a:rPr lang="en-US" sz="1350" dirty="0">
                <a:solidFill>
                  <a:srgbClr val="C7D2E8"/>
                </a:solidFill>
                <a:latin typeface="Courier New" pitchFamily="34" charset="0"/>
                <a:ea typeface="Courier New" pitchFamily="34" charset="-122"/>
                <a:cs typeface="Courier New" pitchFamily="34" charset="-120"/>
              </a:rPr>
              <a:t>public goal, deadline, raised;
</a:t>
            </a:r>
            <a:r>
              <a:rPr lang="en-US" sz="1350" dirty="0">
                <a:solidFill>
                  <a:srgbClr val="F5B544"/>
                </a:solidFill>
                <a:latin typeface="Courier New" pitchFamily="34" charset="0"/>
                <a:ea typeface="Courier New" pitchFamily="34" charset="-122"/>
                <a:cs typeface="Courier New" pitchFamily="34" charset="-120"/>
              </a:rPr>
              <a:t>  mapping</a:t>
            </a:r>
            <a:r>
              <a:rPr lang="en-US" sz="1350" dirty="0">
                <a:solidFill>
                  <a:srgbClr val="C7D2E8"/>
                </a:solidFill>
                <a:latin typeface="Courier New" pitchFamily="34" charset="0"/>
                <a:ea typeface="Courier New" pitchFamily="34" charset="-122"/>
                <a:cs typeface="Courier New" pitchFamily="34" charset="-120"/>
              </a:rPr>
              <a:t>(address =&gt; uint) contributions;
</a:t>
            </a:r>
            <a:r>
              <a:rPr lang="en-US" sz="1350" dirty="0">
                <a:solidFill>
                  <a:srgbClr val="7AA2FF"/>
                </a:solidFill>
                <a:latin typeface="Courier New" pitchFamily="34" charset="0"/>
                <a:ea typeface="Courier New" pitchFamily="34" charset="-122"/>
                <a:cs typeface="Courier New" pitchFamily="34" charset="-120"/>
              </a:rPr>
              <a:t>  function </a:t>
            </a:r>
            <a:r>
              <a:rPr lang="en-US" sz="1350" dirty="0">
                <a:solidFill>
                  <a:srgbClr val="5EEAD4"/>
                </a:solidFill>
                <a:latin typeface="Courier New" pitchFamily="34" charset="0"/>
                <a:ea typeface="Courier New" pitchFamily="34" charset="-122"/>
                <a:cs typeface="Courier New" pitchFamily="34" charset="-120"/>
              </a:rPr>
              <a:t>contribute() </a:t>
            </a:r>
            <a:r>
              <a:rPr lang="en-US" sz="1350" dirty="0">
                <a:solidFill>
                  <a:srgbClr val="C7D2E8"/>
                </a:solidFill>
                <a:latin typeface="Courier New" pitchFamily="34" charset="0"/>
                <a:ea typeface="Courier New" pitchFamily="34" charset="-122"/>
                <a:cs typeface="Courier New" pitchFamily="34" charset="-120"/>
              </a:rPr>
              <a:t>external payable { }
</a:t>
            </a:r>
            <a:r>
              <a:rPr lang="en-US" sz="1350" dirty="0">
                <a:solidFill>
                  <a:srgbClr val="7AA2FF"/>
                </a:solidFill>
                <a:latin typeface="Courier New" pitchFamily="34" charset="0"/>
                <a:ea typeface="Courier New" pitchFamily="34" charset="-122"/>
                <a:cs typeface="Courier New" pitchFamily="34" charset="-120"/>
              </a:rPr>
              <a:t>  function </a:t>
            </a:r>
            <a:r>
              <a:rPr lang="en-US" sz="1350" dirty="0">
                <a:solidFill>
                  <a:srgbClr val="5EEAD4"/>
                </a:solidFill>
                <a:latin typeface="Courier New" pitchFamily="34" charset="0"/>
                <a:ea typeface="Courier New" pitchFamily="34" charset="-122"/>
                <a:cs typeface="Courier New" pitchFamily="34" charset="-120"/>
              </a:rPr>
              <a:t>withdraw() </a:t>
            </a:r>
            <a:r>
              <a:rPr lang="en-US" sz="1350" dirty="0">
                <a:solidFill>
                  <a:srgbClr val="C7D2E8"/>
                </a:solidFill>
                <a:latin typeface="Courier New" pitchFamily="34" charset="0"/>
                <a:ea typeface="Courier New" pitchFamily="34" charset="-122"/>
                <a:cs typeface="Courier New" pitchFamily="34" charset="-120"/>
              </a:rPr>
              <a:t>external onlyOwner { }
</a:t>
            </a:r>
            <a:r>
              <a:rPr lang="en-US" sz="1350" dirty="0">
                <a:solidFill>
                  <a:srgbClr val="7AA2FF"/>
                </a:solidFill>
                <a:latin typeface="Courier New" pitchFamily="34" charset="0"/>
                <a:ea typeface="Courier New" pitchFamily="34" charset="-122"/>
                <a:cs typeface="Courier New" pitchFamily="34" charset="-120"/>
              </a:rPr>
              <a:t>  function </a:t>
            </a:r>
            <a:r>
              <a:rPr lang="en-US" sz="1350" dirty="0">
                <a:solidFill>
                  <a:srgbClr val="5EEAD4"/>
                </a:solidFill>
                <a:latin typeface="Courier New" pitchFamily="34" charset="0"/>
                <a:ea typeface="Courier New" pitchFamily="34" charset="-122"/>
                <a:cs typeface="Courier New" pitchFamily="34" charset="-120"/>
              </a:rPr>
              <a:t>refund() </a:t>
            </a:r>
            <a:r>
              <a:rPr lang="en-US" sz="1350" dirty="0">
                <a:solidFill>
                  <a:srgbClr val="C7D2E8"/>
                </a:solidFill>
                <a:latin typeface="Courier New" pitchFamily="34" charset="0"/>
                <a:ea typeface="Courier New" pitchFamily="34" charset="-122"/>
                <a:cs typeface="Courier New" pitchFamily="34" charset="-120"/>
              </a:rPr>
              <a:t>external { }
}</a:t>
            </a:r>
            <a:endParaRPr lang="en-US" sz="1350" dirty="0"/>
          </a:p>
        </p:txBody>
      </p:sp>
      <p:sp>
        <p:nvSpPr>
          <p:cNvPr id="12" name="Shape 9"/>
          <p:cNvSpPr/>
          <p:nvPr/>
        </p:nvSpPr>
        <p:spPr>
          <a:xfrm>
            <a:off x="6720840" y="1691640"/>
            <a:ext cx="4892040" cy="987552"/>
          </a:xfrm>
          <a:prstGeom prst="roundRect">
            <a:avLst>
              <a:gd name="adj" fmla="val 833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3" name="Shape 10"/>
          <p:cNvSpPr/>
          <p:nvPr/>
        </p:nvSpPr>
        <p:spPr>
          <a:xfrm>
            <a:off x="6949440" y="2002536"/>
            <a:ext cx="365760" cy="365760"/>
          </a:xfrm>
          <a:prstGeom prst="ellipse">
            <a:avLst/>
          </a:prstGeom>
          <a:solidFill>
            <a:srgbClr val="4F7CFF"/>
          </a:solidFill>
          <a:ln/>
        </p:spPr>
        <p:txBody>
          <a:bodyPr/>
          <a:lstStyle/>
          <a:p>
            <a:endParaRPr lang="en-US"/>
          </a:p>
        </p:txBody>
      </p:sp>
      <p:sp>
        <p:nvSpPr>
          <p:cNvPr id="14" name="Text 11"/>
          <p:cNvSpPr/>
          <p:nvPr/>
        </p:nvSpPr>
        <p:spPr>
          <a:xfrm>
            <a:off x="7452360" y="1819656"/>
            <a:ext cx="4023360" cy="329184"/>
          </a:xfrm>
          <a:prstGeom prst="rect">
            <a:avLst/>
          </a:prstGeom>
          <a:noFill/>
          <a:ln/>
        </p:spPr>
        <p:txBody>
          <a:bodyPr wrap="square" rtlCol="0" anchor="ctr"/>
          <a:lstStyle/>
          <a:p>
            <a:pPr marL="0" indent="0">
              <a:buNone/>
            </a:pPr>
            <a:r>
              <a:rPr lang="en-US" sz="1400" b="1" dirty="0">
                <a:solidFill>
                  <a:srgbClr val="16203A"/>
                </a:solidFill>
                <a:latin typeface="Courier New" pitchFamily="34" charset="0"/>
                <a:ea typeface="Courier New" pitchFamily="34" charset="-122"/>
                <a:cs typeface="Courier New" pitchFamily="34" charset="-120"/>
              </a:rPr>
              <a:t>State variables</a:t>
            </a:r>
            <a:endParaRPr lang="en-US" sz="1400" dirty="0"/>
          </a:p>
        </p:txBody>
      </p:sp>
      <p:sp>
        <p:nvSpPr>
          <p:cNvPr id="15" name="Text 12"/>
          <p:cNvSpPr/>
          <p:nvPr/>
        </p:nvSpPr>
        <p:spPr>
          <a:xfrm>
            <a:off x="7452360" y="2148840"/>
            <a:ext cx="4041648" cy="475488"/>
          </a:xfrm>
          <a:prstGeom prst="rect">
            <a:avLst/>
          </a:prstGeom>
          <a:noFill/>
          <a:ln/>
        </p:spPr>
        <p:txBody>
          <a:bodyPr wrap="square" rtlCol="0" anchor="ctr"/>
          <a:lstStyle/>
          <a:p>
            <a:pPr marL="0" indent="0">
              <a:lnSpc>
                <a:spcPct val="105000"/>
              </a:lnSpc>
              <a:buNone/>
            </a:pPr>
            <a:r>
              <a:rPr lang="en-US" sz="1180" dirty="0">
                <a:solidFill>
                  <a:srgbClr val="64708A"/>
                </a:solidFill>
                <a:latin typeface="Arial" pitchFamily="34" charset="0"/>
                <a:ea typeface="Arial" pitchFamily="34" charset="-122"/>
                <a:cs typeface="Arial" pitchFamily="34" charset="-120"/>
              </a:rPr>
              <a:t>owner, goal, deadline, raised, and a mapping of each backer's contribution.</a:t>
            </a:r>
            <a:endParaRPr lang="en-US" sz="1180" dirty="0"/>
          </a:p>
        </p:txBody>
      </p:sp>
      <p:sp>
        <p:nvSpPr>
          <p:cNvPr id="16" name="Shape 13"/>
          <p:cNvSpPr/>
          <p:nvPr/>
        </p:nvSpPr>
        <p:spPr>
          <a:xfrm>
            <a:off x="6720840" y="2779776"/>
            <a:ext cx="4892040" cy="987552"/>
          </a:xfrm>
          <a:prstGeom prst="roundRect">
            <a:avLst>
              <a:gd name="adj" fmla="val 833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7" name="Shape 14"/>
          <p:cNvSpPr/>
          <p:nvPr/>
        </p:nvSpPr>
        <p:spPr>
          <a:xfrm>
            <a:off x="6949440" y="3090672"/>
            <a:ext cx="365760" cy="365760"/>
          </a:xfrm>
          <a:prstGeom prst="ellipse">
            <a:avLst/>
          </a:prstGeom>
          <a:solidFill>
            <a:srgbClr val="22D3EE"/>
          </a:solidFill>
          <a:ln/>
        </p:spPr>
        <p:txBody>
          <a:bodyPr/>
          <a:lstStyle/>
          <a:p>
            <a:endParaRPr lang="en-US"/>
          </a:p>
        </p:txBody>
      </p:sp>
      <p:sp>
        <p:nvSpPr>
          <p:cNvPr id="18" name="Text 15"/>
          <p:cNvSpPr/>
          <p:nvPr/>
        </p:nvSpPr>
        <p:spPr>
          <a:xfrm>
            <a:off x="7452360" y="2907792"/>
            <a:ext cx="4023360" cy="329184"/>
          </a:xfrm>
          <a:prstGeom prst="rect">
            <a:avLst/>
          </a:prstGeom>
          <a:noFill/>
          <a:ln/>
        </p:spPr>
        <p:txBody>
          <a:bodyPr wrap="square" rtlCol="0" anchor="ctr"/>
          <a:lstStyle/>
          <a:p>
            <a:pPr marL="0" indent="0">
              <a:buNone/>
            </a:pPr>
            <a:r>
              <a:rPr lang="en-US" sz="1400" b="1" dirty="0">
                <a:solidFill>
                  <a:srgbClr val="16203A"/>
                </a:solidFill>
                <a:latin typeface="Courier New" pitchFamily="34" charset="0"/>
                <a:ea typeface="Courier New" pitchFamily="34" charset="-122"/>
                <a:cs typeface="Courier New" pitchFamily="34" charset="-120"/>
              </a:rPr>
              <a:t>contribute()</a:t>
            </a:r>
            <a:endParaRPr lang="en-US" sz="1400" dirty="0"/>
          </a:p>
        </p:txBody>
      </p:sp>
      <p:sp>
        <p:nvSpPr>
          <p:cNvPr id="19" name="Text 16"/>
          <p:cNvSpPr/>
          <p:nvPr/>
        </p:nvSpPr>
        <p:spPr>
          <a:xfrm>
            <a:off x="7452360" y="3236976"/>
            <a:ext cx="4041648" cy="475488"/>
          </a:xfrm>
          <a:prstGeom prst="rect">
            <a:avLst/>
          </a:prstGeom>
          <a:noFill/>
          <a:ln/>
        </p:spPr>
        <p:txBody>
          <a:bodyPr wrap="square" rtlCol="0" anchor="ctr"/>
          <a:lstStyle/>
          <a:p>
            <a:pPr marL="0" indent="0">
              <a:lnSpc>
                <a:spcPct val="105000"/>
              </a:lnSpc>
              <a:buNone/>
            </a:pPr>
            <a:r>
              <a:rPr lang="en-US" sz="1180" dirty="0">
                <a:solidFill>
                  <a:srgbClr val="64708A"/>
                </a:solidFill>
                <a:latin typeface="Arial" pitchFamily="34" charset="0"/>
                <a:ea typeface="Arial" pitchFamily="34" charset="-122"/>
                <a:cs typeface="Arial" pitchFamily="34" charset="-120"/>
              </a:rPr>
              <a:t>payable, accepts ETH, records the backer, increases the total raised.</a:t>
            </a:r>
            <a:endParaRPr lang="en-US" sz="1180" dirty="0"/>
          </a:p>
        </p:txBody>
      </p:sp>
      <p:sp>
        <p:nvSpPr>
          <p:cNvPr id="20" name="Shape 17"/>
          <p:cNvSpPr/>
          <p:nvPr/>
        </p:nvSpPr>
        <p:spPr>
          <a:xfrm>
            <a:off x="6720840" y="3867912"/>
            <a:ext cx="4892040" cy="987552"/>
          </a:xfrm>
          <a:prstGeom prst="roundRect">
            <a:avLst>
              <a:gd name="adj" fmla="val 833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1" name="Shape 18"/>
          <p:cNvSpPr/>
          <p:nvPr/>
        </p:nvSpPr>
        <p:spPr>
          <a:xfrm>
            <a:off x="6949440" y="4178808"/>
            <a:ext cx="365760" cy="365760"/>
          </a:xfrm>
          <a:prstGeom prst="ellipse">
            <a:avLst/>
          </a:prstGeom>
          <a:solidFill>
            <a:srgbClr val="2DD4A7"/>
          </a:solidFill>
          <a:ln/>
        </p:spPr>
        <p:txBody>
          <a:bodyPr/>
          <a:lstStyle/>
          <a:p>
            <a:endParaRPr lang="en-US"/>
          </a:p>
        </p:txBody>
      </p:sp>
      <p:sp>
        <p:nvSpPr>
          <p:cNvPr id="22" name="Text 19"/>
          <p:cNvSpPr/>
          <p:nvPr/>
        </p:nvSpPr>
        <p:spPr>
          <a:xfrm>
            <a:off x="7452360" y="3995928"/>
            <a:ext cx="4023360" cy="329184"/>
          </a:xfrm>
          <a:prstGeom prst="rect">
            <a:avLst/>
          </a:prstGeom>
          <a:noFill/>
          <a:ln/>
        </p:spPr>
        <p:txBody>
          <a:bodyPr wrap="square" rtlCol="0" anchor="ctr"/>
          <a:lstStyle/>
          <a:p>
            <a:pPr marL="0" indent="0">
              <a:buNone/>
            </a:pPr>
            <a:r>
              <a:rPr lang="en-US" sz="1400" b="1" dirty="0">
                <a:solidFill>
                  <a:srgbClr val="16203A"/>
                </a:solidFill>
                <a:latin typeface="Courier New" pitchFamily="34" charset="0"/>
                <a:ea typeface="Courier New" pitchFamily="34" charset="-122"/>
                <a:cs typeface="Courier New" pitchFamily="34" charset="-120"/>
              </a:rPr>
              <a:t>withdraw()</a:t>
            </a:r>
            <a:endParaRPr lang="en-US" sz="1400" dirty="0"/>
          </a:p>
        </p:txBody>
      </p:sp>
      <p:sp>
        <p:nvSpPr>
          <p:cNvPr id="23" name="Text 20"/>
          <p:cNvSpPr/>
          <p:nvPr/>
        </p:nvSpPr>
        <p:spPr>
          <a:xfrm>
            <a:off x="7452360" y="4325112"/>
            <a:ext cx="4041648" cy="475488"/>
          </a:xfrm>
          <a:prstGeom prst="rect">
            <a:avLst/>
          </a:prstGeom>
          <a:noFill/>
          <a:ln/>
        </p:spPr>
        <p:txBody>
          <a:bodyPr wrap="square" rtlCol="0" anchor="ctr"/>
          <a:lstStyle/>
          <a:p>
            <a:pPr marL="0" indent="0">
              <a:lnSpc>
                <a:spcPct val="105000"/>
              </a:lnSpc>
              <a:buNone/>
            </a:pPr>
            <a:r>
              <a:rPr lang="en-US" sz="1180" dirty="0">
                <a:solidFill>
                  <a:srgbClr val="64708A"/>
                </a:solidFill>
                <a:latin typeface="Arial" pitchFamily="34" charset="0"/>
                <a:ea typeface="Arial" pitchFamily="34" charset="-122"/>
                <a:cs typeface="Arial" pitchFamily="34" charset="-120"/>
              </a:rPr>
              <a:t>owner-only, releases funds to the creator once the goal is reached.</a:t>
            </a:r>
            <a:endParaRPr lang="en-US" sz="1180" dirty="0"/>
          </a:p>
        </p:txBody>
      </p:sp>
      <p:sp>
        <p:nvSpPr>
          <p:cNvPr id="24" name="Shape 21"/>
          <p:cNvSpPr/>
          <p:nvPr/>
        </p:nvSpPr>
        <p:spPr>
          <a:xfrm>
            <a:off x="6720840" y="4956048"/>
            <a:ext cx="4892040" cy="987552"/>
          </a:xfrm>
          <a:prstGeom prst="roundRect">
            <a:avLst>
              <a:gd name="adj" fmla="val 833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5" name="Shape 22"/>
          <p:cNvSpPr/>
          <p:nvPr/>
        </p:nvSpPr>
        <p:spPr>
          <a:xfrm>
            <a:off x="6949440" y="5266944"/>
            <a:ext cx="365760" cy="365760"/>
          </a:xfrm>
          <a:prstGeom prst="ellipse">
            <a:avLst/>
          </a:prstGeom>
          <a:solidFill>
            <a:srgbClr val="F5B544"/>
          </a:solidFill>
          <a:ln/>
        </p:spPr>
        <p:txBody>
          <a:bodyPr/>
          <a:lstStyle/>
          <a:p>
            <a:endParaRPr lang="en-US"/>
          </a:p>
        </p:txBody>
      </p:sp>
      <p:sp>
        <p:nvSpPr>
          <p:cNvPr id="26" name="Text 23"/>
          <p:cNvSpPr/>
          <p:nvPr/>
        </p:nvSpPr>
        <p:spPr>
          <a:xfrm>
            <a:off x="7452360" y="5084064"/>
            <a:ext cx="4023360" cy="329184"/>
          </a:xfrm>
          <a:prstGeom prst="rect">
            <a:avLst/>
          </a:prstGeom>
          <a:noFill/>
          <a:ln/>
        </p:spPr>
        <p:txBody>
          <a:bodyPr wrap="square" rtlCol="0" anchor="ctr"/>
          <a:lstStyle/>
          <a:p>
            <a:pPr marL="0" indent="0">
              <a:buNone/>
            </a:pPr>
            <a:r>
              <a:rPr lang="en-US" sz="1400" b="1" dirty="0">
                <a:solidFill>
                  <a:srgbClr val="16203A"/>
                </a:solidFill>
                <a:latin typeface="Courier New" pitchFamily="34" charset="0"/>
                <a:ea typeface="Courier New" pitchFamily="34" charset="-122"/>
                <a:cs typeface="Courier New" pitchFamily="34" charset="-120"/>
              </a:rPr>
              <a:t>refund()</a:t>
            </a:r>
            <a:endParaRPr lang="en-US" sz="1400" dirty="0"/>
          </a:p>
        </p:txBody>
      </p:sp>
      <p:sp>
        <p:nvSpPr>
          <p:cNvPr id="27" name="Text 24"/>
          <p:cNvSpPr/>
          <p:nvPr/>
        </p:nvSpPr>
        <p:spPr>
          <a:xfrm>
            <a:off x="7452360" y="5413248"/>
            <a:ext cx="4041648" cy="475488"/>
          </a:xfrm>
          <a:prstGeom prst="rect">
            <a:avLst/>
          </a:prstGeom>
          <a:noFill/>
          <a:ln/>
        </p:spPr>
        <p:txBody>
          <a:bodyPr wrap="square" rtlCol="0" anchor="ctr"/>
          <a:lstStyle/>
          <a:p>
            <a:pPr marL="0" indent="0">
              <a:lnSpc>
                <a:spcPct val="105000"/>
              </a:lnSpc>
              <a:buNone/>
            </a:pPr>
            <a:r>
              <a:rPr lang="en-US" sz="1180" dirty="0">
                <a:solidFill>
                  <a:srgbClr val="64708A"/>
                </a:solidFill>
                <a:latin typeface="Arial" pitchFamily="34" charset="0"/>
                <a:ea typeface="Arial" pitchFamily="34" charset="-122"/>
                <a:cs typeface="Arial" pitchFamily="34" charset="-120"/>
              </a:rPr>
              <a:t>lets backers reclaim ETH if the deadline passes and the goal failed.</a:t>
            </a:r>
            <a:endParaRPr lang="en-US" sz="11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4F7CFF"/>
                </a:solidFill>
                <a:latin typeface="Arial" pitchFamily="34" charset="0"/>
                <a:ea typeface="Arial" pitchFamily="34" charset="-122"/>
                <a:cs typeface="Arial" pitchFamily="34" charset="-120"/>
              </a:rPr>
              <a:t>TOOLING</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Technology Stack</a:t>
            </a:r>
            <a:endParaRPr lang="en-US" sz="2700" dirty="0"/>
          </a:p>
        </p:txBody>
      </p:sp>
      <p:sp>
        <p:nvSpPr>
          <p:cNvPr id="6" name="Shape 3"/>
          <p:cNvSpPr/>
          <p:nvPr/>
        </p:nvSpPr>
        <p:spPr>
          <a:xfrm>
            <a:off x="566928" y="18288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Shape 4"/>
          <p:cNvSpPr/>
          <p:nvPr/>
        </p:nvSpPr>
        <p:spPr>
          <a:xfrm>
            <a:off x="822960" y="2121408"/>
            <a:ext cx="713232" cy="713232"/>
          </a:xfrm>
          <a:prstGeom prst="ellipse">
            <a:avLst/>
          </a:prstGeom>
          <a:solidFill>
            <a:srgbClr val="4F7C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96696" y="2295144"/>
            <a:ext cx="365760" cy="365760"/>
          </a:xfrm>
          <a:prstGeom prst="rect">
            <a:avLst/>
          </a:prstGeom>
        </p:spPr>
      </p:pic>
      <p:sp>
        <p:nvSpPr>
          <p:cNvPr id="9" name="Text 5"/>
          <p:cNvSpPr/>
          <p:nvPr/>
        </p:nvSpPr>
        <p:spPr>
          <a:xfrm>
            <a:off x="1664208" y="21214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Solidity</a:t>
            </a:r>
            <a:endParaRPr lang="en-US" sz="1600" dirty="0"/>
          </a:p>
        </p:txBody>
      </p:sp>
      <p:sp>
        <p:nvSpPr>
          <p:cNvPr id="10" name="Text 6"/>
          <p:cNvSpPr/>
          <p:nvPr/>
        </p:nvSpPr>
        <p:spPr>
          <a:xfrm>
            <a:off x="1664208" y="25420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Smart contract language</a:t>
            </a:r>
            <a:endParaRPr lang="en-US" sz="1150" dirty="0"/>
          </a:p>
        </p:txBody>
      </p:sp>
      <p:sp>
        <p:nvSpPr>
          <p:cNvPr id="11" name="Shape 7"/>
          <p:cNvSpPr/>
          <p:nvPr/>
        </p:nvSpPr>
        <p:spPr>
          <a:xfrm>
            <a:off x="3538728" y="18288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2" name="Shape 8"/>
          <p:cNvSpPr/>
          <p:nvPr/>
        </p:nvSpPr>
        <p:spPr>
          <a:xfrm>
            <a:off x="3794760" y="2121408"/>
            <a:ext cx="713232" cy="713232"/>
          </a:xfrm>
          <a:prstGeom prst="ellipse">
            <a:avLst/>
          </a:prstGeom>
          <a:solidFill>
            <a:srgbClr val="22D3EE"/>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3968496" y="2295144"/>
            <a:ext cx="365760" cy="365760"/>
          </a:xfrm>
          <a:prstGeom prst="rect">
            <a:avLst/>
          </a:prstGeom>
        </p:spPr>
      </p:pic>
      <p:sp>
        <p:nvSpPr>
          <p:cNvPr id="14" name="Text 9"/>
          <p:cNvSpPr/>
          <p:nvPr/>
        </p:nvSpPr>
        <p:spPr>
          <a:xfrm>
            <a:off x="4636008" y="21214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Hardhat</a:t>
            </a:r>
            <a:endParaRPr lang="en-US" sz="1600" dirty="0"/>
          </a:p>
        </p:txBody>
      </p:sp>
      <p:sp>
        <p:nvSpPr>
          <p:cNvPr id="15" name="Text 10"/>
          <p:cNvSpPr/>
          <p:nvPr/>
        </p:nvSpPr>
        <p:spPr>
          <a:xfrm>
            <a:off x="4636008" y="25420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Compile, test &amp; deploy</a:t>
            </a:r>
            <a:endParaRPr lang="en-US" sz="1150" dirty="0"/>
          </a:p>
        </p:txBody>
      </p:sp>
      <p:sp>
        <p:nvSpPr>
          <p:cNvPr id="16" name="Shape 11"/>
          <p:cNvSpPr/>
          <p:nvPr/>
        </p:nvSpPr>
        <p:spPr>
          <a:xfrm>
            <a:off x="6510528" y="18288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7" name="Shape 12"/>
          <p:cNvSpPr/>
          <p:nvPr/>
        </p:nvSpPr>
        <p:spPr>
          <a:xfrm>
            <a:off x="6766560" y="2121408"/>
            <a:ext cx="713232" cy="713232"/>
          </a:xfrm>
          <a:prstGeom prst="ellipse">
            <a:avLst/>
          </a:prstGeom>
          <a:solidFill>
            <a:srgbClr val="2DD4A7"/>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940296" y="2295144"/>
            <a:ext cx="365760" cy="365760"/>
          </a:xfrm>
          <a:prstGeom prst="rect">
            <a:avLst/>
          </a:prstGeom>
        </p:spPr>
      </p:pic>
      <p:sp>
        <p:nvSpPr>
          <p:cNvPr id="19" name="Text 13"/>
          <p:cNvSpPr/>
          <p:nvPr/>
        </p:nvSpPr>
        <p:spPr>
          <a:xfrm>
            <a:off x="7607808" y="21214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React + Vite</a:t>
            </a:r>
            <a:endParaRPr lang="en-US" sz="1600" dirty="0"/>
          </a:p>
        </p:txBody>
      </p:sp>
      <p:sp>
        <p:nvSpPr>
          <p:cNvPr id="20" name="Text 14"/>
          <p:cNvSpPr/>
          <p:nvPr/>
        </p:nvSpPr>
        <p:spPr>
          <a:xfrm>
            <a:off x="7607808" y="25420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Frontend dApp UI</a:t>
            </a:r>
            <a:endParaRPr lang="en-US" sz="1150" dirty="0"/>
          </a:p>
        </p:txBody>
      </p:sp>
      <p:sp>
        <p:nvSpPr>
          <p:cNvPr id="21" name="Shape 15"/>
          <p:cNvSpPr/>
          <p:nvPr/>
        </p:nvSpPr>
        <p:spPr>
          <a:xfrm>
            <a:off x="9482328" y="18288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2" name="Shape 16"/>
          <p:cNvSpPr/>
          <p:nvPr/>
        </p:nvSpPr>
        <p:spPr>
          <a:xfrm>
            <a:off x="9738360" y="2121408"/>
            <a:ext cx="713232" cy="713232"/>
          </a:xfrm>
          <a:prstGeom prst="ellipse">
            <a:avLst/>
          </a:prstGeom>
          <a:solidFill>
            <a:srgbClr val="F5B544"/>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9912096" y="2295144"/>
            <a:ext cx="365760" cy="365760"/>
          </a:xfrm>
          <a:prstGeom prst="rect">
            <a:avLst/>
          </a:prstGeom>
        </p:spPr>
      </p:pic>
      <p:sp>
        <p:nvSpPr>
          <p:cNvPr id="24" name="Text 17"/>
          <p:cNvSpPr/>
          <p:nvPr/>
        </p:nvSpPr>
        <p:spPr>
          <a:xfrm>
            <a:off x="10579608" y="21214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ethers.js</a:t>
            </a:r>
            <a:endParaRPr lang="en-US" sz="1600" dirty="0"/>
          </a:p>
        </p:txBody>
      </p:sp>
      <p:sp>
        <p:nvSpPr>
          <p:cNvPr id="25" name="Text 18"/>
          <p:cNvSpPr/>
          <p:nvPr/>
        </p:nvSpPr>
        <p:spPr>
          <a:xfrm>
            <a:off x="10579608" y="25420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Contract ↔ frontend bridge</a:t>
            </a:r>
            <a:endParaRPr lang="en-US" sz="1150" dirty="0"/>
          </a:p>
        </p:txBody>
      </p:sp>
      <p:sp>
        <p:nvSpPr>
          <p:cNvPr id="26" name="Shape 19"/>
          <p:cNvSpPr/>
          <p:nvPr/>
        </p:nvSpPr>
        <p:spPr>
          <a:xfrm>
            <a:off x="566928" y="38862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7" name="Shape 20"/>
          <p:cNvSpPr/>
          <p:nvPr/>
        </p:nvSpPr>
        <p:spPr>
          <a:xfrm>
            <a:off x="822960" y="4178808"/>
            <a:ext cx="713232" cy="713232"/>
          </a:xfrm>
          <a:prstGeom prst="ellipse">
            <a:avLst/>
          </a:prstGeom>
          <a:solidFill>
            <a:srgbClr val="4F7CFF"/>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996696" y="4352544"/>
            <a:ext cx="365760" cy="365760"/>
          </a:xfrm>
          <a:prstGeom prst="rect">
            <a:avLst/>
          </a:prstGeom>
        </p:spPr>
      </p:pic>
      <p:sp>
        <p:nvSpPr>
          <p:cNvPr id="29" name="Text 21"/>
          <p:cNvSpPr/>
          <p:nvPr/>
        </p:nvSpPr>
        <p:spPr>
          <a:xfrm>
            <a:off x="1664208" y="41788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MetaMask</a:t>
            </a:r>
            <a:endParaRPr lang="en-US" sz="1600" dirty="0"/>
          </a:p>
        </p:txBody>
      </p:sp>
      <p:sp>
        <p:nvSpPr>
          <p:cNvPr id="30" name="Text 22"/>
          <p:cNvSpPr/>
          <p:nvPr/>
        </p:nvSpPr>
        <p:spPr>
          <a:xfrm>
            <a:off x="1664208" y="45994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Wallet &amp; transaction signing</a:t>
            </a:r>
            <a:endParaRPr lang="en-US" sz="1150" dirty="0"/>
          </a:p>
        </p:txBody>
      </p:sp>
      <p:sp>
        <p:nvSpPr>
          <p:cNvPr id="31" name="Shape 23"/>
          <p:cNvSpPr/>
          <p:nvPr/>
        </p:nvSpPr>
        <p:spPr>
          <a:xfrm>
            <a:off x="3538728" y="38862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32" name="Shape 24"/>
          <p:cNvSpPr/>
          <p:nvPr/>
        </p:nvSpPr>
        <p:spPr>
          <a:xfrm>
            <a:off x="3794760" y="4178808"/>
            <a:ext cx="713232" cy="713232"/>
          </a:xfrm>
          <a:prstGeom prst="ellipse">
            <a:avLst/>
          </a:prstGeom>
          <a:solidFill>
            <a:srgbClr val="22D3EE"/>
          </a:solidFill>
          <a:ln/>
        </p:spPr>
        <p:txBody>
          <a:bodyPr/>
          <a:lstStyle/>
          <a:p>
            <a:endParaRPr lang="en-US"/>
          </a:p>
        </p:txBody>
      </p:sp>
      <p:pic>
        <p:nvPicPr>
          <p:cNvPr id="33" name="Image 6" descr="preencoded.png"/>
          <p:cNvPicPr>
            <a:picLocks noChangeAspect="1"/>
          </p:cNvPicPr>
          <p:nvPr/>
        </p:nvPicPr>
        <p:blipFill>
          <a:blip r:embed="rId9"/>
          <a:stretch>
            <a:fillRect/>
          </a:stretch>
        </p:blipFill>
        <p:spPr>
          <a:xfrm>
            <a:off x="3968496" y="4352544"/>
            <a:ext cx="365760" cy="365760"/>
          </a:xfrm>
          <a:prstGeom prst="rect">
            <a:avLst/>
          </a:prstGeom>
        </p:spPr>
      </p:pic>
      <p:sp>
        <p:nvSpPr>
          <p:cNvPr id="34" name="Text 25"/>
          <p:cNvSpPr/>
          <p:nvPr/>
        </p:nvSpPr>
        <p:spPr>
          <a:xfrm>
            <a:off x="4636008" y="41788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Sepolia</a:t>
            </a:r>
            <a:endParaRPr lang="en-US" sz="1600" dirty="0"/>
          </a:p>
        </p:txBody>
      </p:sp>
      <p:sp>
        <p:nvSpPr>
          <p:cNvPr id="35" name="Text 26"/>
          <p:cNvSpPr/>
          <p:nvPr/>
        </p:nvSpPr>
        <p:spPr>
          <a:xfrm>
            <a:off x="4636008" y="45994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Public Ethereum testnet</a:t>
            </a:r>
            <a:endParaRPr lang="en-US" sz="1150" dirty="0"/>
          </a:p>
        </p:txBody>
      </p:sp>
      <p:sp>
        <p:nvSpPr>
          <p:cNvPr id="36" name="Shape 27"/>
          <p:cNvSpPr/>
          <p:nvPr/>
        </p:nvSpPr>
        <p:spPr>
          <a:xfrm>
            <a:off x="6510528" y="38862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37" name="Shape 28"/>
          <p:cNvSpPr/>
          <p:nvPr/>
        </p:nvSpPr>
        <p:spPr>
          <a:xfrm>
            <a:off x="6766560" y="4178808"/>
            <a:ext cx="713232" cy="713232"/>
          </a:xfrm>
          <a:prstGeom prst="ellipse">
            <a:avLst/>
          </a:prstGeom>
          <a:solidFill>
            <a:srgbClr val="2DD4A7"/>
          </a:solidFill>
          <a:ln/>
        </p:spPr>
        <p:txBody>
          <a:bodyPr/>
          <a:lstStyle/>
          <a:p>
            <a:endParaRPr lang="en-US"/>
          </a:p>
        </p:txBody>
      </p:sp>
      <p:pic>
        <p:nvPicPr>
          <p:cNvPr id="38" name="Image 7" descr="preencoded.png"/>
          <p:cNvPicPr>
            <a:picLocks noChangeAspect="1"/>
          </p:cNvPicPr>
          <p:nvPr/>
        </p:nvPicPr>
        <p:blipFill>
          <a:blip r:embed="rId10"/>
          <a:stretch>
            <a:fillRect/>
          </a:stretch>
        </p:blipFill>
        <p:spPr>
          <a:xfrm>
            <a:off x="6940296" y="4352544"/>
            <a:ext cx="365760" cy="365760"/>
          </a:xfrm>
          <a:prstGeom prst="rect">
            <a:avLst/>
          </a:prstGeom>
        </p:spPr>
      </p:pic>
      <p:sp>
        <p:nvSpPr>
          <p:cNvPr id="39" name="Text 29"/>
          <p:cNvSpPr/>
          <p:nvPr/>
        </p:nvSpPr>
        <p:spPr>
          <a:xfrm>
            <a:off x="7607808" y="41788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IPFS / Pinata</a:t>
            </a:r>
            <a:endParaRPr lang="en-US" sz="1600" dirty="0"/>
          </a:p>
        </p:txBody>
      </p:sp>
      <p:sp>
        <p:nvSpPr>
          <p:cNvPr id="40" name="Text 30"/>
          <p:cNvSpPr/>
          <p:nvPr/>
        </p:nvSpPr>
        <p:spPr>
          <a:xfrm>
            <a:off x="7607808" y="45994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Decentralized file storage</a:t>
            </a:r>
            <a:endParaRPr lang="en-US" sz="1150" dirty="0"/>
          </a:p>
        </p:txBody>
      </p:sp>
      <p:sp>
        <p:nvSpPr>
          <p:cNvPr id="41" name="Shape 31"/>
          <p:cNvSpPr/>
          <p:nvPr/>
        </p:nvSpPr>
        <p:spPr>
          <a:xfrm>
            <a:off x="9482328" y="3886200"/>
            <a:ext cx="2697480" cy="1737360"/>
          </a:xfrm>
          <a:prstGeom prst="roundRect">
            <a:avLst>
              <a:gd name="adj" fmla="val 5263"/>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42" name="Shape 32"/>
          <p:cNvSpPr/>
          <p:nvPr/>
        </p:nvSpPr>
        <p:spPr>
          <a:xfrm>
            <a:off x="9738360" y="4178808"/>
            <a:ext cx="713232" cy="713232"/>
          </a:xfrm>
          <a:prstGeom prst="ellipse">
            <a:avLst/>
          </a:prstGeom>
          <a:solidFill>
            <a:srgbClr val="F5B544"/>
          </a:solidFill>
          <a:ln/>
        </p:spPr>
        <p:txBody>
          <a:bodyPr/>
          <a:lstStyle/>
          <a:p>
            <a:endParaRPr lang="en-US"/>
          </a:p>
        </p:txBody>
      </p:sp>
      <p:pic>
        <p:nvPicPr>
          <p:cNvPr id="43" name="Image 8" descr="preencoded.png"/>
          <p:cNvPicPr>
            <a:picLocks noChangeAspect="1"/>
          </p:cNvPicPr>
          <p:nvPr/>
        </p:nvPicPr>
        <p:blipFill>
          <a:blip r:embed="rId11"/>
          <a:stretch>
            <a:fillRect/>
          </a:stretch>
        </p:blipFill>
        <p:spPr>
          <a:xfrm>
            <a:off x="9912096" y="4352544"/>
            <a:ext cx="365760" cy="365760"/>
          </a:xfrm>
          <a:prstGeom prst="rect">
            <a:avLst/>
          </a:prstGeom>
        </p:spPr>
      </p:pic>
      <p:sp>
        <p:nvSpPr>
          <p:cNvPr id="44" name="Text 33"/>
          <p:cNvSpPr/>
          <p:nvPr/>
        </p:nvSpPr>
        <p:spPr>
          <a:xfrm>
            <a:off x="10579608" y="4178808"/>
            <a:ext cx="1463040" cy="384048"/>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Etherscan</a:t>
            </a:r>
            <a:endParaRPr lang="en-US" sz="1600" dirty="0"/>
          </a:p>
        </p:txBody>
      </p:sp>
      <p:sp>
        <p:nvSpPr>
          <p:cNvPr id="45" name="Text 34"/>
          <p:cNvSpPr/>
          <p:nvPr/>
        </p:nvSpPr>
        <p:spPr>
          <a:xfrm>
            <a:off x="10579608" y="4599432"/>
            <a:ext cx="1417320" cy="777240"/>
          </a:xfrm>
          <a:prstGeom prst="rect">
            <a:avLst/>
          </a:prstGeom>
          <a:noFill/>
          <a:ln/>
        </p:spPr>
        <p:txBody>
          <a:bodyPr wrap="square" rtlCol="0" anchor="ctr"/>
          <a:lstStyle/>
          <a:p>
            <a:pPr marL="0" indent="0">
              <a:lnSpc>
                <a:spcPct val="105000"/>
              </a:lnSpc>
              <a:buNone/>
            </a:pPr>
            <a:r>
              <a:rPr lang="en-US" sz="1150" dirty="0">
                <a:solidFill>
                  <a:srgbClr val="64708A"/>
                </a:solidFill>
                <a:latin typeface="Arial" pitchFamily="34" charset="0"/>
                <a:ea typeface="Arial" pitchFamily="34" charset="-122"/>
                <a:cs typeface="Arial" pitchFamily="34" charset="-120"/>
              </a:rPr>
              <a:t>Verify txns &amp; contract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2DD4A7"/>
                </a:solidFill>
                <a:latin typeface="Arial" pitchFamily="34" charset="0"/>
                <a:ea typeface="Arial" pitchFamily="34" charset="-122"/>
                <a:cs typeface="Arial" pitchFamily="34" charset="-120"/>
              </a:rPr>
              <a:t>SAFEGUARDS</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Security Considerations</a:t>
            </a:r>
            <a:endParaRPr lang="en-US" sz="2700" dirty="0"/>
          </a:p>
        </p:txBody>
      </p:sp>
      <p:sp>
        <p:nvSpPr>
          <p:cNvPr id="6" name="Text 3"/>
          <p:cNvSpPr/>
          <p:nvPr/>
        </p:nvSpPr>
        <p:spPr>
          <a:xfrm>
            <a:off x="1371600" y="1207008"/>
            <a:ext cx="10058400" cy="320040"/>
          </a:xfrm>
          <a:prstGeom prst="rect">
            <a:avLst/>
          </a:prstGeom>
          <a:noFill/>
          <a:ln/>
        </p:spPr>
        <p:txBody>
          <a:bodyPr wrap="square" rtlCol="0" anchor="ctr"/>
          <a:lstStyle/>
          <a:p>
            <a:pPr marL="0" indent="0">
              <a:buNone/>
            </a:pPr>
            <a:r>
              <a:rPr lang="en-US" sz="1300" i="1" dirty="0">
                <a:solidFill>
                  <a:srgbClr val="64708A"/>
                </a:solidFill>
                <a:latin typeface="Arial" pitchFamily="34" charset="0"/>
                <a:ea typeface="Arial" pitchFamily="34" charset="-122"/>
                <a:cs typeface="Arial" pitchFamily="34" charset="-120"/>
              </a:rPr>
              <a:t>In a security course, this is the slide that earns marks, show you thought like an attacker.</a:t>
            </a:r>
            <a:endParaRPr lang="en-US" sz="1300" dirty="0"/>
          </a:p>
        </p:txBody>
      </p:sp>
      <p:sp>
        <p:nvSpPr>
          <p:cNvPr id="7" name="Shape 4"/>
          <p:cNvSpPr/>
          <p:nvPr/>
        </p:nvSpPr>
        <p:spPr>
          <a:xfrm>
            <a:off x="566928" y="178308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8" name="Shape 5"/>
          <p:cNvSpPr/>
          <p:nvPr/>
        </p:nvSpPr>
        <p:spPr>
          <a:xfrm>
            <a:off x="822960" y="2039112"/>
            <a:ext cx="457200" cy="457200"/>
          </a:xfrm>
          <a:prstGeom prst="ellipse">
            <a:avLst/>
          </a:prstGeom>
          <a:solidFill>
            <a:srgbClr val="2DD4A7"/>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914400" y="2130552"/>
            <a:ext cx="274320" cy="274320"/>
          </a:xfrm>
          <a:prstGeom prst="rect">
            <a:avLst/>
          </a:prstGeom>
        </p:spPr>
      </p:pic>
      <p:sp>
        <p:nvSpPr>
          <p:cNvPr id="10" name="Text 6"/>
          <p:cNvSpPr/>
          <p:nvPr/>
        </p:nvSpPr>
        <p:spPr>
          <a:xfrm>
            <a:off x="1435608" y="202082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Reentrancy protection</a:t>
            </a:r>
            <a:endParaRPr lang="en-US" sz="1450" dirty="0"/>
          </a:p>
        </p:txBody>
      </p:sp>
      <p:sp>
        <p:nvSpPr>
          <p:cNvPr id="11" name="Text 7"/>
          <p:cNvSpPr/>
          <p:nvPr/>
        </p:nvSpPr>
        <p:spPr>
          <a:xfrm>
            <a:off x="841248" y="256032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Checks-Effects-Interactions pattern + a nonReentrant guard on withdraw() and refund().</a:t>
            </a:r>
            <a:endParaRPr lang="en-US" sz="1130" dirty="0"/>
          </a:p>
        </p:txBody>
      </p:sp>
      <p:sp>
        <p:nvSpPr>
          <p:cNvPr id="12" name="Shape 8"/>
          <p:cNvSpPr/>
          <p:nvPr/>
        </p:nvSpPr>
        <p:spPr>
          <a:xfrm>
            <a:off x="4434840" y="178308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3" name="Shape 9"/>
          <p:cNvSpPr/>
          <p:nvPr/>
        </p:nvSpPr>
        <p:spPr>
          <a:xfrm>
            <a:off x="4690872" y="2039112"/>
            <a:ext cx="457200" cy="457200"/>
          </a:xfrm>
          <a:prstGeom prst="ellipse">
            <a:avLst/>
          </a:prstGeom>
          <a:solidFill>
            <a:srgbClr val="4F7CFF"/>
          </a:solidFill>
          <a:ln/>
        </p:spPr>
        <p:txBody>
          <a:bodyPr/>
          <a:lstStyle/>
          <a:p>
            <a:endParaRPr lang="en-US"/>
          </a:p>
        </p:txBody>
      </p:sp>
      <p:pic>
        <p:nvPicPr>
          <p:cNvPr id="14" name="Image 2" descr="preencoded.png"/>
          <p:cNvPicPr>
            <a:picLocks noChangeAspect="1"/>
          </p:cNvPicPr>
          <p:nvPr/>
        </p:nvPicPr>
        <p:blipFill>
          <a:blip r:embed="rId4"/>
          <a:stretch>
            <a:fillRect/>
          </a:stretch>
        </p:blipFill>
        <p:spPr>
          <a:xfrm>
            <a:off x="4782312" y="2130552"/>
            <a:ext cx="274320" cy="274320"/>
          </a:xfrm>
          <a:prstGeom prst="rect">
            <a:avLst/>
          </a:prstGeom>
        </p:spPr>
      </p:pic>
      <p:sp>
        <p:nvSpPr>
          <p:cNvPr id="15" name="Text 10"/>
          <p:cNvSpPr/>
          <p:nvPr/>
        </p:nvSpPr>
        <p:spPr>
          <a:xfrm>
            <a:off x="5303520" y="202082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Access control</a:t>
            </a:r>
            <a:endParaRPr lang="en-US" sz="1450" dirty="0"/>
          </a:p>
        </p:txBody>
      </p:sp>
      <p:sp>
        <p:nvSpPr>
          <p:cNvPr id="16" name="Text 11"/>
          <p:cNvSpPr/>
          <p:nvPr/>
        </p:nvSpPr>
        <p:spPr>
          <a:xfrm>
            <a:off x="4709160" y="256032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onlyOwner restricts fund withdrawal; critical state changes are permissioned.</a:t>
            </a:r>
            <a:endParaRPr lang="en-US" sz="1130" dirty="0"/>
          </a:p>
        </p:txBody>
      </p:sp>
      <p:sp>
        <p:nvSpPr>
          <p:cNvPr id="17" name="Shape 12"/>
          <p:cNvSpPr/>
          <p:nvPr/>
        </p:nvSpPr>
        <p:spPr>
          <a:xfrm>
            <a:off x="8302752" y="178308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8" name="Shape 13"/>
          <p:cNvSpPr/>
          <p:nvPr/>
        </p:nvSpPr>
        <p:spPr>
          <a:xfrm>
            <a:off x="8558784" y="2039112"/>
            <a:ext cx="457200" cy="457200"/>
          </a:xfrm>
          <a:prstGeom prst="ellipse">
            <a:avLst/>
          </a:prstGeom>
          <a:solidFill>
            <a:srgbClr val="22D3EE"/>
          </a:solidFill>
          <a:ln/>
        </p:spPr>
        <p:txBody>
          <a:bodyPr/>
          <a:lstStyle/>
          <a:p>
            <a:endParaRPr lang="en-US"/>
          </a:p>
        </p:txBody>
      </p:sp>
      <p:pic>
        <p:nvPicPr>
          <p:cNvPr id="19" name="Image 3" descr="preencoded.png"/>
          <p:cNvPicPr>
            <a:picLocks noChangeAspect="1"/>
          </p:cNvPicPr>
          <p:nvPr/>
        </p:nvPicPr>
        <p:blipFill>
          <a:blip r:embed="rId4"/>
          <a:stretch>
            <a:fillRect/>
          </a:stretch>
        </p:blipFill>
        <p:spPr>
          <a:xfrm>
            <a:off x="8650224" y="2130552"/>
            <a:ext cx="274320" cy="274320"/>
          </a:xfrm>
          <a:prstGeom prst="rect">
            <a:avLst/>
          </a:prstGeom>
        </p:spPr>
      </p:pic>
      <p:sp>
        <p:nvSpPr>
          <p:cNvPr id="20" name="Text 14"/>
          <p:cNvSpPr/>
          <p:nvPr/>
        </p:nvSpPr>
        <p:spPr>
          <a:xfrm>
            <a:off x="9171432" y="202082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Input &amp; state validation</a:t>
            </a:r>
            <a:endParaRPr lang="en-US" sz="1450" dirty="0"/>
          </a:p>
        </p:txBody>
      </p:sp>
      <p:sp>
        <p:nvSpPr>
          <p:cNvPr id="21" name="Text 15"/>
          <p:cNvSpPr/>
          <p:nvPr/>
        </p:nvSpPr>
        <p:spPr>
          <a:xfrm>
            <a:off x="8577072" y="256032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require() checks on amounts, deadlines, and goal status before any transfer.</a:t>
            </a:r>
            <a:endParaRPr lang="en-US" sz="1130" dirty="0"/>
          </a:p>
        </p:txBody>
      </p:sp>
      <p:sp>
        <p:nvSpPr>
          <p:cNvPr id="22" name="Shape 16"/>
          <p:cNvSpPr/>
          <p:nvPr/>
        </p:nvSpPr>
        <p:spPr>
          <a:xfrm>
            <a:off x="566928" y="370332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3" name="Shape 17"/>
          <p:cNvSpPr/>
          <p:nvPr/>
        </p:nvSpPr>
        <p:spPr>
          <a:xfrm>
            <a:off x="822960" y="3959352"/>
            <a:ext cx="457200" cy="457200"/>
          </a:xfrm>
          <a:prstGeom prst="ellipse">
            <a:avLst/>
          </a:prstGeom>
          <a:solidFill>
            <a:srgbClr val="F5B544"/>
          </a:solidFill>
          <a:ln/>
        </p:spPr>
        <p:txBody>
          <a:bodyPr/>
          <a:lstStyle/>
          <a:p>
            <a:endParaRPr lang="en-US"/>
          </a:p>
        </p:txBody>
      </p:sp>
      <p:pic>
        <p:nvPicPr>
          <p:cNvPr id="24" name="Image 4" descr="preencoded.png"/>
          <p:cNvPicPr>
            <a:picLocks noChangeAspect="1"/>
          </p:cNvPicPr>
          <p:nvPr/>
        </p:nvPicPr>
        <p:blipFill>
          <a:blip r:embed="rId4"/>
          <a:stretch>
            <a:fillRect/>
          </a:stretch>
        </p:blipFill>
        <p:spPr>
          <a:xfrm>
            <a:off x="914400" y="4050792"/>
            <a:ext cx="274320" cy="274320"/>
          </a:xfrm>
          <a:prstGeom prst="rect">
            <a:avLst/>
          </a:prstGeom>
        </p:spPr>
      </p:pic>
      <p:sp>
        <p:nvSpPr>
          <p:cNvPr id="25" name="Text 18"/>
          <p:cNvSpPr/>
          <p:nvPr/>
        </p:nvSpPr>
        <p:spPr>
          <a:xfrm>
            <a:off x="1435608" y="394106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Safe fund transfer</a:t>
            </a:r>
            <a:endParaRPr lang="en-US" sz="1450" dirty="0"/>
          </a:p>
        </p:txBody>
      </p:sp>
      <p:sp>
        <p:nvSpPr>
          <p:cNvPr id="26" name="Text 19"/>
          <p:cNvSpPr/>
          <p:nvPr/>
        </p:nvSpPr>
        <p:spPr>
          <a:xfrm>
            <a:off x="841248" y="448056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Use call{value:}() with success checks instead of transfer(); pull-over-push refunds.</a:t>
            </a:r>
            <a:endParaRPr lang="en-US" sz="1130" dirty="0"/>
          </a:p>
        </p:txBody>
      </p:sp>
      <p:sp>
        <p:nvSpPr>
          <p:cNvPr id="27" name="Shape 20"/>
          <p:cNvSpPr/>
          <p:nvPr/>
        </p:nvSpPr>
        <p:spPr>
          <a:xfrm>
            <a:off x="4434840" y="370332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8" name="Shape 21"/>
          <p:cNvSpPr/>
          <p:nvPr/>
        </p:nvSpPr>
        <p:spPr>
          <a:xfrm>
            <a:off x="4690872" y="3959352"/>
            <a:ext cx="457200" cy="457200"/>
          </a:xfrm>
          <a:prstGeom prst="ellipse">
            <a:avLst/>
          </a:prstGeom>
          <a:solidFill>
            <a:srgbClr val="4F7CFF"/>
          </a:solidFill>
          <a:ln/>
        </p:spPr>
        <p:txBody>
          <a:bodyPr/>
          <a:lstStyle/>
          <a:p>
            <a:endParaRPr lang="en-US"/>
          </a:p>
        </p:txBody>
      </p:sp>
      <p:pic>
        <p:nvPicPr>
          <p:cNvPr id="29" name="Image 5" descr="preencoded.png"/>
          <p:cNvPicPr>
            <a:picLocks noChangeAspect="1"/>
          </p:cNvPicPr>
          <p:nvPr/>
        </p:nvPicPr>
        <p:blipFill>
          <a:blip r:embed="rId4"/>
          <a:stretch>
            <a:fillRect/>
          </a:stretch>
        </p:blipFill>
        <p:spPr>
          <a:xfrm>
            <a:off x="4782312" y="4050792"/>
            <a:ext cx="274320" cy="274320"/>
          </a:xfrm>
          <a:prstGeom prst="rect">
            <a:avLst/>
          </a:prstGeom>
        </p:spPr>
      </p:pic>
      <p:sp>
        <p:nvSpPr>
          <p:cNvPr id="30" name="Text 22"/>
          <p:cNvSpPr/>
          <p:nvPr/>
        </p:nvSpPr>
        <p:spPr>
          <a:xfrm>
            <a:off x="5303520" y="394106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Testing &amp; coverage</a:t>
            </a:r>
            <a:endParaRPr lang="en-US" sz="1450" dirty="0"/>
          </a:p>
        </p:txBody>
      </p:sp>
      <p:sp>
        <p:nvSpPr>
          <p:cNvPr id="31" name="Text 23"/>
          <p:cNvSpPr/>
          <p:nvPr/>
        </p:nvSpPr>
        <p:spPr>
          <a:xfrm>
            <a:off x="4709160" y="448056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Hardhat unit tests for happy paths and attack cases (double-spend, early withdraw).</a:t>
            </a:r>
            <a:endParaRPr lang="en-US" sz="1130" dirty="0"/>
          </a:p>
        </p:txBody>
      </p:sp>
      <p:sp>
        <p:nvSpPr>
          <p:cNvPr id="32" name="Shape 24"/>
          <p:cNvSpPr/>
          <p:nvPr/>
        </p:nvSpPr>
        <p:spPr>
          <a:xfrm>
            <a:off x="8302752" y="3703320"/>
            <a:ext cx="3593592" cy="1627632"/>
          </a:xfrm>
          <a:prstGeom prst="roundRect">
            <a:avLst>
              <a:gd name="adj" fmla="val 561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33" name="Shape 25"/>
          <p:cNvSpPr/>
          <p:nvPr/>
        </p:nvSpPr>
        <p:spPr>
          <a:xfrm>
            <a:off x="8558784" y="3959352"/>
            <a:ext cx="457200" cy="457200"/>
          </a:xfrm>
          <a:prstGeom prst="ellipse">
            <a:avLst/>
          </a:prstGeom>
          <a:solidFill>
            <a:srgbClr val="2DD4A7"/>
          </a:solidFill>
          <a:ln/>
        </p:spPr>
        <p:txBody>
          <a:bodyPr/>
          <a:lstStyle/>
          <a:p>
            <a:endParaRPr lang="en-US"/>
          </a:p>
        </p:txBody>
      </p:sp>
      <p:pic>
        <p:nvPicPr>
          <p:cNvPr id="34" name="Image 6" descr="preencoded.png"/>
          <p:cNvPicPr>
            <a:picLocks noChangeAspect="1"/>
          </p:cNvPicPr>
          <p:nvPr/>
        </p:nvPicPr>
        <p:blipFill>
          <a:blip r:embed="rId4"/>
          <a:stretch>
            <a:fillRect/>
          </a:stretch>
        </p:blipFill>
        <p:spPr>
          <a:xfrm>
            <a:off x="8650224" y="4050792"/>
            <a:ext cx="274320" cy="274320"/>
          </a:xfrm>
          <a:prstGeom prst="rect">
            <a:avLst/>
          </a:prstGeom>
        </p:spPr>
      </p:pic>
      <p:sp>
        <p:nvSpPr>
          <p:cNvPr id="35" name="Text 26"/>
          <p:cNvSpPr/>
          <p:nvPr/>
        </p:nvSpPr>
        <p:spPr>
          <a:xfrm>
            <a:off x="9171432" y="3941064"/>
            <a:ext cx="2542032" cy="457200"/>
          </a:xfrm>
          <a:prstGeom prst="rect">
            <a:avLst/>
          </a:prstGeom>
          <a:noFill/>
          <a:ln/>
        </p:spPr>
        <p:txBody>
          <a:bodyPr wrap="square" rtlCol="0" anchor="ctr"/>
          <a:lstStyle/>
          <a:p>
            <a:pPr marL="0" indent="0">
              <a:buNone/>
            </a:pPr>
            <a:r>
              <a:rPr lang="en-US" sz="1450" b="1" dirty="0">
                <a:solidFill>
                  <a:srgbClr val="16203A"/>
                </a:solidFill>
                <a:latin typeface="Cambria" pitchFamily="34" charset="0"/>
                <a:ea typeface="Cambria" pitchFamily="34" charset="-122"/>
                <a:cs typeface="Cambria" pitchFamily="34" charset="-120"/>
              </a:rPr>
              <a:t>No hard-coded secrets</a:t>
            </a:r>
            <a:endParaRPr lang="en-US" sz="1450" dirty="0"/>
          </a:p>
        </p:txBody>
      </p:sp>
      <p:sp>
        <p:nvSpPr>
          <p:cNvPr id="36" name="Text 27"/>
          <p:cNvSpPr/>
          <p:nvPr/>
        </p:nvSpPr>
        <p:spPr>
          <a:xfrm>
            <a:off x="8577072" y="4480560"/>
            <a:ext cx="3044952" cy="749808"/>
          </a:xfrm>
          <a:prstGeom prst="rect">
            <a:avLst/>
          </a:prstGeom>
          <a:noFill/>
          <a:ln/>
        </p:spPr>
        <p:txBody>
          <a:bodyPr wrap="square" rtlCol="0" anchor="ctr"/>
          <a:lstStyle/>
          <a:p>
            <a:pPr marL="0" indent="0">
              <a:lnSpc>
                <a:spcPct val="108000"/>
              </a:lnSpc>
              <a:buNone/>
            </a:pPr>
            <a:r>
              <a:rPr lang="en-US" sz="1130" dirty="0">
                <a:solidFill>
                  <a:srgbClr val="64708A"/>
                </a:solidFill>
                <a:latin typeface="Arial" pitchFamily="34" charset="0"/>
                <a:ea typeface="Arial" pitchFamily="34" charset="-122"/>
                <a:cs typeface="Arial" pitchFamily="34" charset="-120"/>
              </a:rPr>
              <a:t>Keys &amp; RPC URLs in .env, never committed; contract verified on Etherscan.</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30"/>
        </a:solidFill>
        <a:effectLst/>
      </p:bgPr>
    </p:bg>
    <p:spTree>
      <p:nvGrpSpPr>
        <p:cNvPr id="1" name=""/>
        <p:cNvGrpSpPr/>
        <p:nvPr/>
      </p:nvGrpSpPr>
      <p:grpSpPr>
        <a:xfrm>
          <a:off x="0" y="0"/>
          <a:ext cx="0" cy="0"/>
          <a:chOff x="0" y="0"/>
          <a:chExt cx="0" cy="0"/>
        </a:xfrm>
      </p:grpSpPr>
      <p:sp>
        <p:nvSpPr>
          <p:cNvPr id="2" name="Shape 0"/>
          <p:cNvSpPr/>
          <p:nvPr/>
        </p:nvSpPr>
        <p:spPr>
          <a:xfrm>
            <a:off x="1005840" y="1097280"/>
            <a:ext cx="640080" cy="640080"/>
          </a:xfrm>
          <a:prstGeom prst="ellipse">
            <a:avLst/>
          </a:prstGeom>
          <a:solidFill>
            <a:srgbClr val="1B2452"/>
          </a:solidFill>
          <a:ln/>
        </p:spPr>
        <p:txBody>
          <a:bodyPr/>
          <a:lstStyle/>
          <a:p>
            <a:endParaRPr lang="en-US"/>
          </a:p>
        </p:txBody>
      </p:sp>
      <p:sp>
        <p:nvSpPr>
          <p:cNvPr id="3" name="Shape 1"/>
          <p:cNvSpPr/>
          <p:nvPr/>
        </p:nvSpPr>
        <p:spPr>
          <a:xfrm>
            <a:off x="640080" y="5120640"/>
            <a:ext cx="457200" cy="457200"/>
          </a:xfrm>
          <a:prstGeom prst="ellipse">
            <a:avLst/>
          </a:prstGeom>
          <a:solidFill>
            <a:srgbClr val="4F7CFF">
              <a:alpha val="20000"/>
            </a:srgbClr>
          </a:solidFill>
          <a:ln/>
        </p:spPr>
        <p:txBody>
          <a:bodyPr/>
          <a:lstStyle/>
          <a:p>
            <a:endParaRPr lang="en-US"/>
          </a:p>
        </p:txBody>
      </p:sp>
      <p:sp>
        <p:nvSpPr>
          <p:cNvPr id="4" name="Shape 2"/>
          <p:cNvSpPr/>
          <p:nvPr/>
        </p:nvSpPr>
        <p:spPr>
          <a:xfrm>
            <a:off x="11064240" y="1371600"/>
            <a:ext cx="502920" cy="502920"/>
          </a:xfrm>
          <a:prstGeom prst="ellipse">
            <a:avLst/>
          </a:prstGeom>
          <a:solidFill>
            <a:srgbClr val="22D3EE">
              <a:alpha val="18000"/>
            </a:srgbClr>
          </a:solidFill>
          <a:ln/>
        </p:spPr>
        <p:txBody>
          <a:bodyPr/>
          <a:lstStyle/>
          <a:p>
            <a:endParaRPr lang="en-US"/>
          </a:p>
        </p:txBody>
      </p:sp>
      <p:sp>
        <p:nvSpPr>
          <p:cNvPr id="5" name="Shape 3"/>
          <p:cNvSpPr/>
          <p:nvPr/>
        </p:nvSpPr>
        <p:spPr>
          <a:xfrm>
            <a:off x="10698480" y="5303520"/>
            <a:ext cx="640080" cy="640080"/>
          </a:xfrm>
          <a:prstGeom prst="ellipse">
            <a:avLst/>
          </a:prstGeom>
          <a:solidFill>
            <a:srgbClr val="1B2452"/>
          </a:solidFill>
          <a:ln/>
        </p:spPr>
        <p:txBody>
          <a:bodyPr/>
          <a:lstStyle/>
          <a:p>
            <a:endParaRPr lang="en-US"/>
          </a:p>
        </p:txBody>
      </p:sp>
      <p:sp>
        <p:nvSpPr>
          <p:cNvPr id="6" name="Shape 4"/>
          <p:cNvSpPr/>
          <p:nvPr/>
        </p:nvSpPr>
        <p:spPr>
          <a:xfrm>
            <a:off x="10424160" y="502920"/>
            <a:ext cx="146304" cy="146304"/>
          </a:xfrm>
          <a:prstGeom prst="ellipse">
            <a:avLst/>
          </a:prstGeom>
          <a:solidFill>
            <a:srgbClr val="4F7CFF">
              <a:alpha val="55000"/>
            </a:srgbClr>
          </a:solidFill>
          <a:ln/>
        </p:spPr>
        <p:txBody>
          <a:bodyPr/>
          <a:lstStyle/>
          <a:p>
            <a:endParaRPr lang="en-US"/>
          </a:p>
        </p:txBody>
      </p:sp>
      <p:sp>
        <p:nvSpPr>
          <p:cNvPr id="7" name="Shape 5"/>
          <p:cNvSpPr/>
          <p:nvPr/>
        </p:nvSpPr>
        <p:spPr>
          <a:xfrm>
            <a:off x="10927080" y="713232"/>
            <a:ext cx="91440" cy="91440"/>
          </a:xfrm>
          <a:prstGeom prst="ellipse">
            <a:avLst/>
          </a:prstGeom>
          <a:solidFill>
            <a:srgbClr val="22D3EE">
              <a:alpha val="60000"/>
            </a:srgbClr>
          </a:solidFill>
          <a:ln/>
        </p:spPr>
        <p:txBody>
          <a:bodyPr/>
          <a:lstStyle/>
          <a:p>
            <a:endParaRPr lang="en-US"/>
          </a:p>
        </p:txBody>
      </p:sp>
      <p:sp>
        <p:nvSpPr>
          <p:cNvPr id="8" name="Shape 6"/>
          <p:cNvSpPr/>
          <p:nvPr/>
        </p:nvSpPr>
        <p:spPr>
          <a:xfrm>
            <a:off x="11292840" y="457200"/>
            <a:ext cx="64008" cy="64008"/>
          </a:xfrm>
          <a:prstGeom prst="ellipse">
            <a:avLst/>
          </a:prstGeom>
          <a:solidFill>
            <a:srgbClr val="2DD4A7">
              <a:alpha val="55000"/>
            </a:srgbClr>
          </a:solidFill>
          <a:ln/>
        </p:spPr>
        <p:txBody>
          <a:bodyPr/>
          <a:lstStyle/>
          <a:p>
            <a:endParaRPr lang="en-US"/>
          </a:p>
        </p:txBody>
      </p:sp>
      <p:sp>
        <p:nvSpPr>
          <p:cNvPr id="9" name="Shape 7"/>
          <p:cNvSpPr/>
          <p:nvPr/>
        </p:nvSpPr>
        <p:spPr>
          <a:xfrm>
            <a:off x="10570464" y="576072"/>
            <a:ext cx="356616" cy="137160"/>
          </a:xfrm>
          <a:prstGeom prst="line">
            <a:avLst/>
          </a:prstGeom>
          <a:noFill/>
          <a:ln w="12700">
            <a:solidFill>
              <a:srgbClr val="4F7CFF">
                <a:alpha val="45000"/>
              </a:srgbClr>
            </a:solidFill>
            <a:prstDash val="solid"/>
          </a:ln>
        </p:spPr>
        <p:txBody>
          <a:bodyPr/>
          <a:lstStyle/>
          <a:p>
            <a:endParaRPr lang="en-US"/>
          </a:p>
        </p:txBody>
      </p:sp>
      <p:sp>
        <p:nvSpPr>
          <p:cNvPr id="10" name="Shape 8"/>
          <p:cNvSpPr/>
          <p:nvPr/>
        </p:nvSpPr>
        <p:spPr>
          <a:xfrm>
            <a:off x="11018520" y="749808"/>
            <a:ext cx="274320" cy="0"/>
          </a:xfrm>
          <a:prstGeom prst="line">
            <a:avLst/>
          </a:prstGeom>
          <a:noFill/>
          <a:ln w="12700">
            <a:solidFill>
              <a:srgbClr val="22D3EE">
                <a:alpha val="45000"/>
              </a:srgbClr>
            </a:solidFill>
            <a:prstDash val="solid"/>
          </a:ln>
        </p:spPr>
        <p:txBody>
          <a:bodyPr/>
          <a:lstStyle/>
          <a:p>
            <a:endParaRPr lang="en-US"/>
          </a:p>
        </p:txBody>
      </p:sp>
      <p:sp>
        <p:nvSpPr>
          <p:cNvPr id="11" name="Shape 9"/>
          <p:cNvSpPr/>
          <p:nvPr/>
        </p:nvSpPr>
        <p:spPr>
          <a:xfrm>
            <a:off x="5532120" y="1371600"/>
            <a:ext cx="1097280" cy="1097280"/>
          </a:xfrm>
          <a:prstGeom prst="ellipse">
            <a:avLst/>
          </a:prstGeom>
          <a:solidFill>
            <a:srgbClr val="22D3EE"/>
          </a:solidFill>
          <a:ln/>
          <a:effectLst>
            <a:outerShdw blurRad="114300" dist="38100" dir="5400000" algn="bl" rotWithShape="0">
              <a:srgbClr val="0B1020">
                <a:alpha val="18000"/>
              </a:srgbClr>
            </a:outerShdw>
          </a:effectLst>
        </p:spPr>
        <p:txBody>
          <a:bodyPr/>
          <a:lstStyle/>
          <a:p>
            <a:endParaRPr lang="en-US"/>
          </a:p>
        </p:txBody>
      </p:sp>
      <p:pic>
        <p:nvPicPr>
          <p:cNvPr id="12" name="Image 0" descr="preencoded.png"/>
          <p:cNvPicPr>
            <a:picLocks noChangeAspect="1"/>
          </p:cNvPicPr>
          <p:nvPr/>
        </p:nvPicPr>
        <p:blipFill>
          <a:blip r:embed="rId3"/>
          <a:stretch>
            <a:fillRect/>
          </a:stretch>
        </p:blipFill>
        <p:spPr>
          <a:xfrm>
            <a:off x="5852160" y="1636776"/>
            <a:ext cx="502920" cy="566928"/>
          </a:xfrm>
          <a:prstGeom prst="rect">
            <a:avLst/>
          </a:prstGeom>
        </p:spPr>
      </p:pic>
      <p:sp>
        <p:nvSpPr>
          <p:cNvPr id="13" name="Text 10"/>
          <p:cNvSpPr/>
          <p:nvPr/>
        </p:nvSpPr>
        <p:spPr>
          <a:xfrm>
            <a:off x="0" y="2697480"/>
            <a:ext cx="12161520" cy="365760"/>
          </a:xfrm>
          <a:prstGeom prst="rect">
            <a:avLst/>
          </a:prstGeom>
          <a:noFill/>
          <a:ln/>
        </p:spPr>
        <p:txBody>
          <a:bodyPr wrap="square" rtlCol="0" anchor="ctr"/>
          <a:lstStyle/>
          <a:p>
            <a:pPr marL="0" indent="0" algn="ctr">
              <a:buNone/>
            </a:pPr>
            <a:r>
              <a:rPr lang="en-US" sz="1400" b="1" kern="0" spc="400" dirty="0">
                <a:solidFill>
                  <a:srgbClr val="22D3EE"/>
                </a:solidFill>
                <a:latin typeface="Arial" pitchFamily="34" charset="0"/>
                <a:ea typeface="Arial" pitchFamily="34" charset="-122"/>
                <a:cs typeface="Arial" pitchFamily="34" charset="-120"/>
              </a:rPr>
              <a:t>PART 2</a:t>
            </a:r>
            <a:endParaRPr lang="en-US" sz="1400" dirty="0"/>
          </a:p>
        </p:txBody>
      </p:sp>
      <p:sp>
        <p:nvSpPr>
          <p:cNvPr id="14" name="Text 11"/>
          <p:cNvSpPr/>
          <p:nvPr/>
        </p:nvSpPr>
        <p:spPr>
          <a:xfrm>
            <a:off x="0" y="3017520"/>
            <a:ext cx="12161520" cy="91440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Live Demo</a:t>
            </a:r>
            <a:endParaRPr lang="en-US" sz="5200" dirty="0"/>
          </a:p>
        </p:txBody>
      </p:sp>
      <p:sp>
        <p:nvSpPr>
          <p:cNvPr id="15" name="Text 12"/>
          <p:cNvSpPr/>
          <p:nvPr/>
        </p:nvSpPr>
        <p:spPr>
          <a:xfrm>
            <a:off x="0" y="4069080"/>
            <a:ext cx="12161520" cy="457200"/>
          </a:xfrm>
          <a:prstGeom prst="rect">
            <a:avLst/>
          </a:prstGeom>
          <a:noFill/>
          <a:ln/>
        </p:spPr>
        <p:txBody>
          <a:bodyPr wrap="square" rtlCol="0" anchor="ctr"/>
          <a:lstStyle/>
          <a:p>
            <a:pPr marL="0" indent="0" algn="ctr">
              <a:buNone/>
            </a:pPr>
            <a:r>
              <a:rPr lang="en-US" sz="1600" i="1" dirty="0">
                <a:solidFill>
                  <a:srgbClr val="C7D2E8"/>
                </a:solidFill>
                <a:latin typeface="Arial" pitchFamily="34" charset="0"/>
                <a:ea typeface="Arial" pitchFamily="34" charset="-122"/>
                <a:cs typeface="Arial" pitchFamily="34" charset="-120"/>
              </a:rPr>
              <a:t>Enough slides, let's watch FundChain run on the Sepolia testnet.</a:t>
            </a:r>
            <a:endParaRPr lang="en-US" sz="1600" dirty="0"/>
          </a:p>
        </p:txBody>
      </p:sp>
      <p:sp>
        <p:nvSpPr>
          <p:cNvPr id="16" name="Text 13"/>
          <p:cNvSpPr/>
          <p:nvPr/>
        </p:nvSpPr>
        <p:spPr>
          <a:xfrm>
            <a:off x="0" y="5074920"/>
            <a:ext cx="12161520" cy="365760"/>
          </a:xfrm>
          <a:prstGeom prst="rect">
            <a:avLst/>
          </a:prstGeom>
          <a:noFill/>
          <a:ln/>
        </p:spPr>
        <p:txBody>
          <a:bodyPr wrap="square" rtlCol="0" anchor="ctr"/>
          <a:lstStyle/>
          <a:p>
            <a:pPr marL="0" indent="0" algn="ctr">
              <a:buNone/>
            </a:pPr>
            <a:r>
              <a:rPr lang="en-US" sz="1250" dirty="0">
                <a:solidFill>
                  <a:srgbClr val="7E8BAC"/>
                </a:solidFill>
                <a:latin typeface="Arial" pitchFamily="34" charset="0"/>
                <a:ea typeface="Arial" pitchFamily="34" charset="-122"/>
                <a:cs typeface="Arial" pitchFamily="34" charset="-120"/>
              </a:rPr>
              <a:t>Tip:  have the dApp, MetaMask, and an Etherscan tab open BEFORE you switch over.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22D3EE"/>
                </a:solidFill>
                <a:latin typeface="Arial" pitchFamily="34" charset="0"/>
                <a:ea typeface="Arial" pitchFamily="34" charset="-122"/>
                <a:cs typeface="Arial" pitchFamily="34" charset="-120"/>
              </a:rPr>
              <a:t>PART 2</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Demo Walkthrough: What We'll Show</a:t>
            </a:r>
            <a:endParaRPr lang="en-US" sz="2700" dirty="0"/>
          </a:p>
        </p:txBody>
      </p:sp>
      <p:sp>
        <p:nvSpPr>
          <p:cNvPr id="6" name="Text 3"/>
          <p:cNvSpPr/>
          <p:nvPr/>
        </p:nvSpPr>
        <p:spPr>
          <a:xfrm>
            <a:off x="1371600" y="1207008"/>
            <a:ext cx="10058400" cy="320040"/>
          </a:xfrm>
          <a:prstGeom prst="rect">
            <a:avLst/>
          </a:prstGeom>
          <a:noFill/>
          <a:ln/>
        </p:spPr>
        <p:txBody>
          <a:bodyPr wrap="square" rtlCol="0" anchor="ctr"/>
          <a:lstStyle/>
          <a:p>
            <a:pPr marL="0" indent="0">
              <a:buNone/>
            </a:pPr>
            <a:r>
              <a:rPr lang="en-US" sz="1300" i="1" dirty="0">
                <a:solidFill>
                  <a:srgbClr val="64708A"/>
                </a:solidFill>
                <a:latin typeface="Arial" pitchFamily="34" charset="0"/>
                <a:ea typeface="Arial" pitchFamily="34" charset="-122"/>
                <a:cs typeface="Arial" pitchFamily="34" charset="-120"/>
              </a:rPr>
              <a:t>Five steps that prove the full contribute → release / refund cycle works on-chain.</a:t>
            </a:r>
            <a:endParaRPr lang="en-US" sz="1300" dirty="0"/>
          </a:p>
        </p:txBody>
      </p:sp>
      <p:sp>
        <p:nvSpPr>
          <p:cNvPr id="7" name="Shape 4"/>
          <p:cNvSpPr/>
          <p:nvPr/>
        </p:nvSpPr>
        <p:spPr>
          <a:xfrm>
            <a:off x="566928" y="1874520"/>
            <a:ext cx="11045952" cy="786384"/>
          </a:xfrm>
          <a:prstGeom prst="roundRect">
            <a:avLst>
              <a:gd name="adj" fmla="val 10465"/>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8" name="Shape 5"/>
          <p:cNvSpPr/>
          <p:nvPr/>
        </p:nvSpPr>
        <p:spPr>
          <a:xfrm>
            <a:off x="777240" y="2075688"/>
            <a:ext cx="384048" cy="384048"/>
          </a:xfrm>
          <a:prstGeom prst="ellipse">
            <a:avLst/>
          </a:prstGeom>
          <a:solidFill>
            <a:srgbClr val="4F7CFF"/>
          </a:solidFill>
          <a:ln/>
          <a:effectLst>
            <a:outerShdw blurRad="101600" dist="38100" dir="5400000" algn="bl" rotWithShape="0">
              <a:srgbClr val="8995B0">
                <a:alpha val="22000"/>
              </a:srgbClr>
            </a:outerShdw>
          </a:effectLst>
        </p:spPr>
        <p:txBody>
          <a:bodyPr/>
          <a:lstStyle/>
          <a:p>
            <a:endParaRPr lang="en-US"/>
          </a:p>
        </p:txBody>
      </p:sp>
      <p:sp>
        <p:nvSpPr>
          <p:cNvPr id="9" name="Text 6"/>
          <p:cNvSpPr/>
          <p:nvPr/>
        </p:nvSpPr>
        <p:spPr>
          <a:xfrm>
            <a:off x="777240" y="207568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Shape 7"/>
          <p:cNvSpPr/>
          <p:nvPr/>
        </p:nvSpPr>
        <p:spPr>
          <a:xfrm>
            <a:off x="1371600" y="2048256"/>
            <a:ext cx="438912" cy="438912"/>
          </a:xfrm>
          <a:prstGeom prst="ellipse">
            <a:avLst/>
          </a:prstGeom>
          <a:solidFill>
            <a:srgbClr val="1B245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481328" y="2157984"/>
            <a:ext cx="219456" cy="219456"/>
          </a:xfrm>
          <a:prstGeom prst="rect">
            <a:avLst/>
          </a:prstGeom>
        </p:spPr>
      </p:pic>
      <p:sp>
        <p:nvSpPr>
          <p:cNvPr id="12" name="Text 8"/>
          <p:cNvSpPr/>
          <p:nvPr/>
        </p:nvSpPr>
        <p:spPr>
          <a:xfrm>
            <a:off x="2011680" y="1965960"/>
            <a:ext cx="3017520" cy="603504"/>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Connect wallet</a:t>
            </a:r>
            <a:endParaRPr lang="en-US" sz="1600" dirty="0"/>
          </a:p>
        </p:txBody>
      </p:sp>
      <p:sp>
        <p:nvSpPr>
          <p:cNvPr id="13" name="Text 9"/>
          <p:cNvSpPr/>
          <p:nvPr/>
        </p:nvSpPr>
        <p:spPr>
          <a:xfrm>
            <a:off x="5120640" y="1965960"/>
            <a:ext cx="6355080" cy="603504"/>
          </a:xfrm>
          <a:prstGeom prst="rect">
            <a:avLst/>
          </a:prstGeom>
          <a:noFill/>
          <a:ln/>
        </p:spPr>
        <p:txBody>
          <a:bodyPr wrap="square" rtlCol="0" anchor="ctr"/>
          <a:lstStyle/>
          <a:p>
            <a:pPr marL="0" indent="0">
              <a:buNone/>
            </a:pPr>
            <a:r>
              <a:rPr lang="en-US" sz="1250" dirty="0">
                <a:solidFill>
                  <a:srgbClr val="64708A"/>
                </a:solidFill>
                <a:latin typeface="Arial" pitchFamily="34" charset="0"/>
                <a:ea typeface="Arial" pitchFamily="34" charset="-122"/>
                <a:cs typeface="Arial" pitchFamily="34" charset="-120"/>
              </a:rPr>
              <a:t>Open the dApp and connect MetaMask on the Sepolia network.</a:t>
            </a:r>
            <a:endParaRPr lang="en-US" sz="1250" dirty="0"/>
          </a:p>
        </p:txBody>
      </p:sp>
      <p:sp>
        <p:nvSpPr>
          <p:cNvPr id="14" name="Shape 10"/>
          <p:cNvSpPr/>
          <p:nvPr/>
        </p:nvSpPr>
        <p:spPr>
          <a:xfrm>
            <a:off x="566928" y="2770632"/>
            <a:ext cx="11045952" cy="786384"/>
          </a:xfrm>
          <a:prstGeom prst="roundRect">
            <a:avLst>
              <a:gd name="adj" fmla="val 10465"/>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5" name="Shape 11"/>
          <p:cNvSpPr/>
          <p:nvPr/>
        </p:nvSpPr>
        <p:spPr>
          <a:xfrm>
            <a:off x="777240" y="2971800"/>
            <a:ext cx="384048" cy="384048"/>
          </a:xfrm>
          <a:prstGeom prst="ellipse">
            <a:avLst/>
          </a:prstGeom>
          <a:solidFill>
            <a:srgbClr val="4F7CFF"/>
          </a:solidFill>
          <a:ln/>
          <a:effectLst>
            <a:outerShdw blurRad="101600" dist="38100" dir="5400000" algn="bl" rotWithShape="0">
              <a:srgbClr val="8995B0">
                <a:alpha val="22000"/>
              </a:srgbClr>
            </a:outerShdw>
          </a:effectLst>
        </p:spPr>
        <p:txBody>
          <a:bodyPr/>
          <a:lstStyle/>
          <a:p>
            <a:endParaRPr lang="en-US"/>
          </a:p>
        </p:txBody>
      </p:sp>
      <p:sp>
        <p:nvSpPr>
          <p:cNvPr id="16" name="Text 12"/>
          <p:cNvSpPr/>
          <p:nvPr/>
        </p:nvSpPr>
        <p:spPr>
          <a:xfrm>
            <a:off x="777240" y="2971800"/>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Shape 13"/>
          <p:cNvSpPr/>
          <p:nvPr/>
        </p:nvSpPr>
        <p:spPr>
          <a:xfrm>
            <a:off x="1371600" y="2944368"/>
            <a:ext cx="438912" cy="438912"/>
          </a:xfrm>
          <a:prstGeom prst="ellipse">
            <a:avLst/>
          </a:prstGeom>
          <a:solidFill>
            <a:srgbClr val="1B2452"/>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481328" y="3054096"/>
            <a:ext cx="219456" cy="219456"/>
          </a:xfrm>
          <a:prstGeom prst="rect">
            <a:avLst/>
          </a:prstGeom>
        </p:spPr>
      </p:pic>
      <p:sp>
        <p:nvSpPr>
          <p:cNvPr id="19" name="Text 14"/>
          <p:cNvSpPr/>
          <p:nvPr/>
        </p:nvSpPr>
        <p:spPr>
          <a:xfrm>
            <a:off x="2011680" y="2862072"/>
            <a:ext cx="3017520" cy="603504"/>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Create a campaign</a:t>
            </a:r>
            <a:endParaRPr lang="en-US" sz="1600" dirty="0"/>
          </a:p>
        </p:txBody>
      </p:sp>
      <p:sp>
        <p:nvSpPr>
          <p:cNvPr id="20" name="Text 15"/>
          <p:cNvSpPr/>
          <p:nvPr/>
        </p:nvSpPr>
        <p:spPr>
          <a:xfrm>
            <a:off x="5120640" y="2862072"/>
            <a:ext cx="6355080" cy="603504"/>
          </a:xfrm>
          <a:prstGeom prst="rect">
            <a:avLst/>
          </a:prstGeom>
          <a:noFill/>
          <a:ln/>
        </p:spPr>
        <p:txBody>
          <a:bodyPr wrap="square" rtlCol="0" anchor="ctr"/>
          <a:lstStyle/>
          <a:p>
            <a:pPr marL="0" indent="0">
              <a:buNone/>
            </a:pPr>
            <a:r>
              <a:rPr lang="en-US" sz="1250" dirty="0">
                <a:solidFill>
                  <a:srgbClr val="64708A"/>
                </a:solidFill>
                <a:latin typeface="Arial" pitchFamily="34" charset="0"/>
                <a:ea typeface="Arial" pitchFamily="34" charset="-122"/>
                <a:cs typeface="Arial" pitchFamily="34" charset="-120"/>
              </a:rPr>
              <a:t>Set goal &amp; deadline; image uploads to IPFS, hash saved on-chain.</a:t>
            </a:r>
            <a:endParaRPr lang="en-US" sz="1250" dirty="0"/>
          </a:p>
        </p:txBody>
      </p:sp>
      <p:sp>
        <p:nvSpPr>
          <p:cNvPr id="21" name="Shape 16"/>
          <p:cNvSpPr/>
          <p:nvPr/>
        </p:nvSpPr>
        <p:spPr>
          <a:xfrm>
            <a:off x="566928" y="3666744"/>
            <a:ext cx="11045952" cy="786384"/>
          </a:xfrm>
          <a:prstGeom prst="roundRect">
            <a:avLst>
              <a:gd name="adj" fmla="val 10465"/>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2" name="Shape 17"/>
          <p:cNvSpPr/>
          <p:nvPr/>
        </p:nvSpPr>
        <p:spPr>
          <a:xfrm>
            <a:off x="777240" y="3867912"/>
            <a:ext cx="384048" cy="384048"/>
          </a:xfrm>
          <a:prstGeom prst="ellipse">
            <a:avLst/>
          </a:prstGeom>
          <a:solidFill>
            <a:srgbClr val="4F7CFF"/>
          </a:solidFill>
          <a:ln/>
          <a:effectLst>
            <a:outerShdw blurRad="101600" dist="38100" dir="5400000" algn="bl" rotWithShape="0">
              <a:srgbClr val="8995B0">
                <a:alpha val="22000"/>
              </a:srgbClr>
            </a:outerShdw>
          </a:effectLst>
        </p:spPr>
        <p:txBody>
          <a:bodyPr/>
          <a:lstStyle/>
          <a:p>
            <a:endParaRPr lang="en-US"/>
          </a:p>
        </p:txBody>
      </p:sp>
      <p:sp>
        <p:nvSpPr>
          <p:cNvPr id="23" name="Text 18"/>
          <p:cNvSpPr/>
          <p:nvPr/>
        </p:nvSpPr>
        <p:spPr>
          <a:xfrm>
            <a:off x="777240" y="3867912"/>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Shape 19"/>
          <p:cNvSpPr/>
          <p:nvPr/>
        </p:nvSpPr>
        <p:spPr>
          <a:xfrm>
            <a:off x="1371600" y="3840480"/>
            <a:ext cx="438912" cy="438912"/>
          </a:xfrm>
          <a:prstGeom prst="ellipse">
            <a:avLst/>
          </a:prstGeom>
          <a:solidFill>
            <a:srgbClr val="1B245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1481328" y="3950208"/>
            <a:ext cx="219456" cy="219456"/>
          </a:xfrm>
          <a:prstGeom prst="rect">
            <a:avLst/>
          </a:prstGeom>
        </p:spPr>
      </p:pic>
      <p:sp>
        <p:nvSpPr>
          <p:cNvPr id="26" name="Text 20"/>
          <p:cNvSpPr/>
          <p:nvPr/>
        </p:nvSpPr>
        <p:spPr>
          <a:xfrm>
            <a:off x="2011680" y="3758184"/>
            <a:ext cx="3017520" cy="603504"/>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Contribute ETH</a:t>
            </a:r>
            <a:endParaRPr lang="en-US" sz="1600" dirty="0"/>
          </a:p>
        </p:txBody>
      </p:sp>
      <p:sp>
        <p:nvSpPr>
          <p:cNvPr id="27" name="Text 21"/>
          <p:cNvSpPr/>
          <p:nvPr/>
        </p:nvSpPr>
        <p:spPr>
          <a:xfrm>
            <a:off x="5120640" y="3758184"/>
            <a:ext cx="6355080" cy="603504"/>
          </a:xfrm>
          <a:prstGeom prst="rect">
            <a:avLst/>
          </a:prstGeom>
          <a:noFill/>
          <a:ln/>
        </p:spPr>
        <p:txBody>
          <a:bodyPr wrap="square" rtlCol="0" anchor="ctr"/>
          <a:lstStyle/>
          <a:p>
            <a:pPr marL="0" indent="0">
              <a:buNone/>
            </a:pPr>
            <a:r>
              <a:rPr lang="en-US" sz="1250" dirty="0">
                <a:solidFill>
                  <a:srgbClr val="64708A"/>
                </a:solidFill>
                <a:latin typeface="Arial" pitchFamily="34" charset="0"/>
                <a:ea typeface="Arial" pitchFamily="34" charset="-122"/>
                <a:cs typeface="Arial" pitchFamily="34" charset="-120"/>
              </a:rPr>
              <a:t>A second account backs the campaign; balance updates live in the UI.</a:t>
            </a:r>
            <a:endParaRPr lang="en-US" sz="1250" dirty="0"/>
          </a:p>
        </p:txBody>
      </p:sp>
      <p:sp>
        <p:nvSpPr>
          <p:cNvPr id="28" name="Shape 22"/>
          <p:cNvSpPr/>
          <p:nvPr/>
        </p:nvSpPr>
        <p:spPr>
          <a:xfrm>
            <a:off x="566928" y="4562856"/>
            <a:ext cx="11045952" cy="786384"/>
          </a:xfrm>
          <a:prstGeom prst="roundRect">
            <a:avLst>
              <a:gd name="adj" fmla="val 10465"/>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9" name="Shape 23"/>
          <p:cNvSpPr/>
          <p:nvPr/>
        </p:nvSpPr>
        <p:spPr>
          <a:xfrm>
            <a:off x="777240" y="4764024"/>
            <a:ext cx="384048" cy="384048"/>
          </a:xfrm>
          <a:prstGeom prst="ellipse">
            <a:avLst/>
          </a:prstGeom>
          <a:solidFill>
            <a:srgbClr val="4F7CFF"/>
          </a:solidFill>
          <a:ln/>
          <a:effectLst>
            <a:outerShdw blurRad="101600" dist="38100" dir="5400000" algn="bl" rotWithShape="0">
              <a:srgbClr val="8995B0">
                <a:alpha val="22000"/>
              </a:srgbClr>
            </a:outerShdw>
          </a:effectLst>
        </p:spPr>
        <p:txBody>
          <a:bodyPr/>
          <a:lstStyle/>
          <a:p>
            <a:endParaRPr lang="en-US"/>
          </a:p>
        </p:txBody>
      </p:sp>
      <p:sp>
        <p:nvSpPr>
          <p:cNvPr id="30" name="Text 24"/>
          <p:cNvSpPr/>
          <p:nvPr/>
        </p:nvSpPr>
        <p:spPr>
          <a:xfrm>
            <a:off x="777240" y="4764024"/>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1" name="Shape 25"/>
          <p:cNvSpPr/>
          <p:nvPr/>
        </p:nvSpPr>
        <p:spPr>
          <a:xfrm>
            <a:off x="1371600" y="4736592"/>
            <a:ext cx="438912" cy="438912"/>
          </a:xfrm>
          <a:prstGeom prst="ellipse">
            <a:avLst/>
          </a:prstGeom>
          <a:solidFill>
            <a:srgbClr val="1B2452"/>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481328" y="4846320"/>
            <a:ext cx="219456" cy="219456"/>
          </a:xfrm>
          <a:prstGeom prst="rect">
            <a:avLst/>
          </a:prstGeom>
        </p:spPr>
      </p:pic>
      <p:sp>
        <p:nvSpPr>
          <p:cNvPr id="33" name="Text 26"/>
          <p:cNvSpPr/>
          <p:nvPr/>
        </p:nvSpPr>
        <p:spPr>
          <a:xfrm>
            <a:off x="2011680" y="4654296"/>
            <a:ext cx="3017520" cy="603504"/>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Verify on Etherscan</a:t>
            </a:r>
            <a:endParaRPr lang="en-US" sz="1600" dirty="0"/>
          </a:p>
        </p:txBody>
      </p:sp>
      <p:sp>
        <p:nvSpPr>
          <p:cNvPr id="34" name="Text 27"/>
          <p:cNvSpPr/>
          <p:nvPr/>
        </p:nvSpPr>
        <p:spPr>
          <a:xfrm>
            <a:off x="5120640" y="4654296"/>
            <a:ext cx="6355080" cy="603504"/>
          </a:xfrm>
          <a:prstGeom prst="rect">
            <a:avLst/>
          </a:prstGeom>
          <a:noFill/>
          <a:ln/>
        </p:spPr>
        <p:txBody>
          <a:bodyPr wrap="square" rtlCol="0" anchor="ctr"/>
          <a:lstStyle/>
          <a:p>
            <a:pPr marL="0" indent="0">
              <a:buNone/>
            </a:pPr>
            <a:r>
              <a:rPr lang="en-US" sz="1250" dirty="0">
                <a:solidFill>
                  <a:srgbClr val="64708A"/>
                </a:solidFill>
                <a:latin typeface="Arial" pitchFamily="34" charset="0"/>
                <a:ea typeface="Arial" pitchFamily="34" charset="-122"/>
                <a:cs typeface="Arial" pitchFamily="34" charset="-120"/>
              </a:rPr>
              <a:t>Show the real transaction hash and the contract's on-chain balance.</a:t>
            </a:r>
            <a:endParaRPr lang="en-US" sz="1250" dirty="0"/>
          </a:p>
        </p:txBody>
      </p:sp>
      <p:sp>
        <p:nvSpPr>
          <p:cNvPr id="35" name="Shape 28"/>
          <p:cNvSpPr/>
          <p:nvPr/>
        </p:nvSpPr>
        <p:spPr>
          <a:xfrm>
            <a:off x="566928" y="5458968"/>
            <a:ext cx="11045952" cy="786384"/>
          </a:xfrm>
          <a:prstGeom prst="roundRect">
            <a:avLst>
              <a:gd name="adj" fmla="val 10465"/>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36" name="Shape 29"/>
          <p:cNvSpPr/>
          <p:nvPr/>
        </p:nvSpPr>
        <p:spPr>
          <a:xfrm>
            <a:off x="777240" y="5660136"/>
            <a:ext cx="384048" cy="384048"/>
          </a:xfrm>
          <a:prstGeom prst="ellipse">
            <a:avLst/>
          </a:prstGeom>
          <a:solidFill>
            <a:srgbClr val="4F7CFF"/>
          </a:solidFill>
          <a:ln/>
          <a:effectLst>
            <a:outerShdw blurRad="101600" dist="38100" dir="5400000" algn="bl" rotWithShape="0">
              <a:srgbClr val="8995B0">
                <a:alpha val="22000"/>
              </a:srgbClr>
            </a:outerShdw>
          </a:effectLst>
        </p:spPr>
        <p:txBody>
          <a:bodyPr/>
          <a:lstStyle/>
          <a:p>
            <a:endParaRPr lang="en-US"/>
          </a:p>
        </p:txBody>
      </p:sp>
      <p:sp>
        <p:nvSpPr>
          <p:cNvPr id="37" name="Text 30"/>
          <p:cNvSpPr/>
          <p:nvPr/>
        </p:nvSpPr>
        <p:spPr>
          <a:xfrm>
            <a:off x="777240" y="5660136"/>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8" name="Shape 31"/>
          <p:cNvSpPr/>
          <p:nvPr/>
        </p:nvSpPr>
        <p:spPr>
          <a:xfrm>
            <a:off x="1371600" y="5632704"/>
            <a:ext cx="438912" cy="438912"/>
          </a:xfrm>
          <a:prstGeom prst="ellipse">
            <a:avLst/>
          </a:prstGeom>
          <a:solidFill>
            <a:srgbClr val="1B2452"/>
          </a:solidFill>
          <a:ln/>
        </p:spPr>
        <p:txBody>
          <a:bodyPr/>
          <a:lstStyle/>
          <a:p>
            <a:endParaRPr lang="en-US"/>
          </a:p>
        </p:txBody>
      </p:sp>
      <p:pic>
        <p:nvPicPr>
          <p:cNvPr id="39" name="Image 5" descr="preencoded.png"/>
          <p:cNvPicPr>
            <a:picLocks noChangeAspect="1"/>
          </p:cNvPicPr>
          <p:nvPr/>
        </p:nvPicPr>
        <p:blipFill>
          <a:blip r:embed="rId8"/>
          <a:stretch>
            <a:fillRect/>
          </a:stretch>
        </p:blipFill>
        <p:spPr>
          <a:xfrm>
            <a:off x="1481328" y="5742432"/>
            <a:ext cx="219456" cy="219456"/>
          </a:xfrm>
          <a:prstGeom prst="rect">
            <a:avLst/>
          </a:prstGeom>
        </p:spPr>
      </p:pic>
      <p:sp>
        <p:nvSpPr>
          <p:cNvPr id="40" name="Text 32"/>
          <p:cNvSpPr/>
          <p:nvPr/>
        </p:nvSpPr>
        <p:spPr>
          <a:xfrm>
            <a:off x="2011680" y="5550408"/>
            <a:ext cx="3017520" cy="603504"/>
          </a:xfrm>
          <a:prstGeom prst="rect">
            <a:avLst/>
          </a:prstGeom>
          <a:noFill/>
          <a:ln/>
        </p:spPr>
        <p:txBody>
          <a:bodyPr wrap="square" rtlCol="0" anchor="ctr"/>
          <a:lstStyle/>
          <a:p>
            <a:pPr marL="0" indent="0">
              <a:buNone/>
            </a:pPr>
            <a:r>
              <a:rPr lang="en-US" sz="1600" b="1" dirty="0">
                <a:solidFill>
                  <a:srgbClr val="16203A"/>
                </a:solidFill>
                <a:latin typeface="Cambria" pitchFamily="34" charset="0"/>
                <a:ea typeface="Cambria" pitchFamily="34" charset="-122"/>
                <a:cs typeface="Cambria" pitchFamily="34" charset="-120"/>
              </a:rPr>
              <a:t>Withdraw or refund</a:t>
            </a:r>
            <a:endParaRPr lang="en-US" sz="1600" dirty="0"/>
          </a:p>
        </p:txBody>
      </p:sp>
      <p:sp>
        <p:nvSpPr>
          <p:cNvPr id="41" name="Text 33"/>
          <p:cNvSpPr/>
          <p:nvPr/>
        </p:nvSpPr>
        <p:spPr>
          <a:xfrm>
            <a:off x="5120640" y="5550408"/>
            <a:ext cx="6355080" cy="603504"/>
          </a:xfrm>
          <a:prstGeom prst="rect">
            <a:avLst/>
          </a:prstGeom>
          <a:noFill/>
          <a:ln/>
        </p:spPr>
        <p:txBody>
          <a:bodyPr wrap="square" rtlCol="0" anchor="ctr"/>
          <a:lstStyle/>
          <a:p>
            <a:pPr marL="0" indent="0">
              <a:buNone/>
            </a:pPr>
            <a:r>
              <a:rPr lang="en-US" sz="1250" dirty="0">
                <a:solidFill>
                  <a:srgbClr val="64708A"/>
                </a:solidFill>
                <a:latin typeface="Arial" pitchFamily="34" charset="0"/>
                <a:ea typeface="Arial" pitchFamily="34" charset="-122"/>
                <a:cs typeface="Arial" pitchFamily="34" charset="-120"/>
              </a:rPr>
              <a:t>Goal met → owner withdraws. Goal missed → backer reclaims funds.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F5B544"/>
                </a:solidFill>
                <a:latin typeface="Arial" pitchFamily="34" charset="0"/>
                <a:ea typeface="Arial" pitchFamily="34" charset="-122"/>
                <a:cs typeface="Arial" pitchFamily="34" charset="-120"/>
              </a:rPr>
              <a:t>REFLECTION</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Challenges &amp; Lessons Learned</a:t>
            </a:r>
            <a:endParaRPr lang="en-US" sz="2700" dirty="0"/>
          </a:p>
        </p:txBody>
      </p:sp>
      <p:sp>
        <p:nvSpPr>
          <p:cNvPr id="6" name="Shape 3"/>
          <p:cNvSpPr/>
          <p:nvPr/>
        </p:nvSpPr>
        <p:spPr>
          <a:xfrm>
            <a:off x="548640" y="1783080"/>
            <a:ext cx="5486400" cy="1783080"/>
          </a:xfrm>
          <a:prstGeom prst="roundRect">
            <a:avLst>
              <a:gd name="adj" fmla="val 512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Shape 4"/>
          <p:cNvSpPr/>
          <p:nvPr/>
        </p:nvSpPr>
        <p:spPr>
          <a:xfrm>
            <a:off x="822960" y="2075688"/>
            <a:ext cx="548640" cy="548640"/>
          </a:xfrm>
          <a:prstGeom prst="ellipse">
            <a:avLst/>
          </a:prstGeom>
          <a:solidFill>
            <a:srgbClr val="FFF3DC"/>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950976" y="2203704"/>
            <a:ext cx="292608" cy="292608"/>
          </a:xfrm>
          <a:prstGeom prst="rect">
            <a:avLst/>
          </a:prstGeom>
        </p:spPr>
      </p:pic>
      <p:sp>
        <p:nvSpPr>
          <p:cNvPr id="9" name="Text 5"/>
          <p:cNvSpPr/>
          <p:nvPr/>
        </p:nvSpPr>
        <p:spPr>
          <a:xfrm>
            <a:off x="1554480" y="2057400"/>
            <a:ext cx="4297680" cy="502920"/>
          </a:xfrm>
          <a:prstGeom prst="rect">
            <a:avLst/>
          </a:prstGeom>
          <a:noFill/>
          <a:ln/>
        </p:spPr>
        <p:txBody>
          <a:bodyPr wrap="square"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Gas costs</a:t>
            </a:r>
            <a:endParaRPr lang="en-US" sz="1700" dirty="0"/>
          </a:p>
        </p:txBody>
      </p:sp>
      <p:sp>
        <p:nvSpPr>
          <p:cNvPr id="10" name="Text 6"/>
          <p:cNvSpPr/>
          <p:nvPr/>
        </p:nvSpPr>
        <p:spPr>
          <a:xfrm>
            <a:off x="868680" y="2651760"/>
            <a:ext cx="4892040" cy="82296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Storing data on-chain is expensive, we moved images to IPFS and kept only hashes on-chain.</a:t>
            </a:r>
            <a:endParaRPr lang="en-US" sz="1250" dirty="0"/>
          </a:p>
        </p:txBody>
      </p:sp>
      <p:sp>
        <p:nvSpPr>
          <p:cNvPr id="11" name="Shape 7"/>
          <p:cNvSpPr/>
          <p:nvPr/>
        </p:nvSpPr>
        <p:spPr>
          <a:xfrm>
            <a:off x="6309360" y="1783080"/>
            <a:ext cx="5486400" cy="1783080"/>
          </a:xfrm>
          <a:prstGeom prst="roundRect">
            <a:avLst>
              <a:gd name="adj" fmla="val 512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2" name="Shape 8"/>
          <p:cNvSpPr/>
          <p:nvPr/>
        </p:nvSpPr>
        <p:spPr>
          <a:xfrm>
            <a:off x="6583680" y="2075688"/>
            <a:ext cx="548640" cy="548640"/>
          </a:xfrm>
          <a:prstGeom prst="ellipse">
            <a:avLst/>
          </a:prstGeom>
          <a:solidFill>
            <a:srgbClr val="FFF3DC"/>
          </a:solidFill>
          <a:ln/>
        </p:spPr>
        <p:txBody>
          <a:bodyPr/>
          <a:lstStyle/>
          <a:p>
            <a:endParaRPr lang="en-US"/>
          </a:p>
        </p:txBody>
      </p:sp>
      <p:pic>
        <p:nvPicPr>
          <p:cNvPr id="13" name="Image 2" descr="preencoded.png"/>
          <p:cNvPicPr>
            <a:picLocks noChangeAspect="1"/>
          </p:cNvPicPr>
          <p:nvPr/>
        </p:nvPicPr>
        <p:blipFill>
          <a:blip r:embed="rId3"/>
          <a:stretch>
            <a:fillRect/>
          </a:stretch>
        </p:blipFill>
        <p:spPr>
          <a:xfrm>
            <a:off x="6711696" y="2203704"/>
            <a:ext cx="292608" cy="292608"/>
          </a:xfrm>
          <a:prstGeom prst="rect">
            <a:avLst/>
          </a:prstGeom>
        </p:spPr>
      </p:pic>
      <p:sp>
        <p:nvSpPr>
          <p:cNvPr id="14" name="Text 9"/>
          <p:cNvSpPr/>
          <p:nvPr/>
        </p:nvSpPr>
        <p:spPr>
          <a:xfrm>
            <a:off x="7315200" y="2057400"/>
            <a:ext cx="4297680" cy="502920"/>
          </a:xfrm>
          <a:prstGeom prst="rect">
            <a:avLst/>
          </a:prstGeom>
          <a:noFill/>
          <a:ln/>
        </p:spPr>
        <p:txBody>
          <a:bodyPr wrap="square"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Testnet faucets</a:t>
            </a:r>
            <a:endParaRPr lang="en-US" sz="1700" dirty="0"/>
          </a:p>
        </p:txBody>
      </p:sp>
      <p:sp>
        <p:nvSpPr>
          <p:cNvPr id="15" name="Text 10"/>
          <p:cNvSpPr/>
          <p:nvPr/>
        </p:nvSpPr>
        <p:spPr>
          <a:xfrm>
            <a:off x="6629400" y="2651760"/>
            <a:ext cx="4892040" cy="82296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Getting Sepolia ETH was slow; we scripted test accounts and reused them across runs.</a:t>
            </a:r>
            <a:endParaRPr lang="en-US" sz="1250" dirty="0"/>
          </a:p>
        </p:txBody>
      </p:sp>
      <p:sp>
        <p:nvSpPr>
          <p:cNvPr id="16" name="Shape 11"/>
          <p:cNvSpPr/>
          <p:nvPr/>
        </p:nvSpPr>
        <p:spPr>
          <a:xfrm>
            <a:off x="548640" y="3840480"/>
            <a:ext cx="5486400" cy="1783080"/>
          </a:xfrm>
          <a:prstGeom prst="roundRect">
            <a:avLst>
              <a:gd name="adj" fmla="val 512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17" name="Shape 12"/>
          <p:cNvSpPr/>
          <p:nvPr/>
        </p:nvSpPr>
        <p:spPr>
          <a:xfrm>
            <a:off x="822960" y="4133088"/>
            <a:ext cx="548640" cy="548640"/>
          </a:xfrm>
          <a:prstGeom prst="ellipse">
            <a:avLst/>
          </a:prstGeom>
          <a:solidFill>
            <a:srgbClr val="FFF3DC"/>
          </a:solidFill>
          <a:ln/>
        </p:spPr>
        <p:txBody>
          <a:bodyPr/>
          <a:lstStyle/>
          <a:p>
            <a:endParaRPr lang="en-US"/>
          </a:p>
        </p:txBody>
      </p:sp>
      <p:pic>
        <p:nvPicPr>
          <p:cNvPr id="18" name="Image 3" descr="preencoded.png"/>
          <p:cNvPicPr>
            <a:picLocks noChangeAspect="1"/>
          </p:cNvPicPr>
          <p:nvPr/>
        </p:nvPicPr>
        <p:blipFill>
          <a:blip r:embed="rId3"/>
          <a:stretch>
            <a:fillRect/>
          </a:stretch>
        </p:blipFill>
        <p:spPr>
          <a:xfrm>
            <a:off x="950976" y="4261104"/>
            <a:ext cx="292608" cy="292608"/>
          </a:xfrm>
          <a:prstGeom prst="rect">
            <a:avLst/>
          </a:prstGeom>
        </p:spPr>
      </p:pic>
      <p:sp>
        <p:nvSpPr>
          <p:cNvPr id="19" name="Text 13"/>
          <p:cNvSpPr/>
          <p:nvPr/>
        </p:nvSpPr>
        <p:spPr>
          <a:xfrm>
            <a:off x="1554480" y="4114800"/>
            <a:ext cx="4297680" cy="502920"/>
          </a:xfrm>
          <a:prstGeom prst="rect">
            <a:avLst/>
          </a:prstGeom>
          <a:noFill/>
          <a:ln/>
        </p:spPr>
        <p:txBody>
          <a:bodyPr wrap="square"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Async UI state</a:t>
            </a:r>
            <a:endParaRPr lang="en-US" sz="1700" dirty="0"/>
          </a:p>
        </p:txBody>
      </p:sp>
      <p:sp>
        <p:nvSpPr>
          <p:cNvPr id="20" name="Text 14"/>
          <p:cNvSpPr/>
          <p:nvPr/>
        </p:nvSpPr>
        <p:spPr>
          <a:xfrm>
            <a:off x="868680" y="4709160"/>
            <a:ext cx="4892040" cy="82296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Transactions take time to confirm, we added pending/confirmed states so the UI never lies.</a:t>
            </a:r>
            <a:endParaRPr lang="en-US" sz="1250" dirty="0"/>
          </a:p>
        </p:txBody>
      </p:sp>
      <p:sp>
        <p:nvSpPr>
          <p:cNvPr id="21" name="Shape 15"/>
          <p:cNvSpPr/>
          <p:nvPr/>
        </p:nvSpPr>
        <p:spPr>
          <a:xfrm>
            <a:off x="6309360" y="3840480"/>
            <a:ext cx="5486400" cy="1783080"/>
          </a:xfrm>
          <a:prstGeom prst="roundRect">
            <a:avLst>
              <a:gd name="adj" fmla="val 5128"/>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22" name="Shape 16"/>
          <p:cNvSpPr/>
          <p:nvPr/>
        </p:nvSpPr>
        <p:spPr>
          <a:xfrm>
            <a:off x="6583680" y="4133088"/>
            <a:ext cx="548640" cy="548640"/>
          </a:xfrm>
          <a:prstGeom prst="ellipse">
            <a:avLst/>
          </a:prstGeom>
          <a:solidFill>
            <a:srgbClr val="FFF3DC"/>
          </a:solidFill>
          <a:ln/>
        </p:spPr>
        <p:txBody>
          <a:bodyPr/>
          <a:lstStyle/>
          <a:p>
            <a:endParaRPr lang="en-US"/>
          </a:p>
        </p:txBody>
      </p:sp>
      <p:pic>
        <p:nvPicPr>
          <p:cNvPr id="23" name="Image 4" descr="preencoded.png"/>
          <p:cNvPicPr>
            <a:picLocks noChangeAspect="1"/>
          </p:cNvPicPr>
          <p:nvPr/>
        </p:nvPicPr>
        <p:blipFill>
          <a:blip r:embed="rId3"/>
          <a:stretch>
            <a:fillRect/>
          </a:stretch>
        </p:blipFill>
        <p:spPr>
          <a:xfrm>
            <a:off x="6711696" y="4261104"/>
            <a:ext cx="292608" cy="292608"/>
          </a:xfrm>
          <a:prstGeom prst="rect">
            <a:avLst/>
          </a:prstGeom>
        </p:spPr>
      </p:pic>
      <p:sp>
        <p:nvSpPr>
          <p:cNvPr id="24" name="Text 17"/>
          <p:cNvSpPr/>
          <p:nvPr/>
        </p:nvSpPr>
        <p:spPr>
          <a:xfrm>
            <a:off x="7315200" y="4114800"/>
            <a:ext cx="4297680" cy="502920"/>
          </a:xfrm>
          <a:prstGeom prst="rect">
            <a:avLst/>
          </a:prstGeom>
          <a:noFill/>
          <a:ln/>
        </p:spPr>
        <p:txBody>
          <a:bodyPr wrap="square"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Handling failures</a:t>
            </a:r>
            <a:endParaRPr lang="en-US" sz="1700" dirty="0"/>
          </a:p>
        </p:txBody>
      </p:sp>
      <p:sp>
        <p:nvSpPr>
          <p:cNvPr id="25" name="Text 18"/>
          <p:cNvSpPr/>
          <p:nvPr/>
        </p:nvSpPr>
        <p:spPr>
          <a:xfrm>
            <a:off x="6629400" y="4709160"/>
            <a:ext cx="4892040" cy="822960"/>
          </a:xfrm>
          <a:prstGeom prst="rect">
            <a:avLst/>
          </a:prstGeom>
          <a:noFill/>
          <a:ln/>
        </p:spPr>
        <p:txBody>
          <a:bodyPr wrap="square" rtlCol="0" anchor="ctr"/>
          <a:lstStyle/>
          <a:p>
            <a:pPr marL="0" indent="0">
              <a:lnSpc>
                <a:spcPct val="110000"/>
              </a:lnSpc>
              <a:buNone/>
            </a:pPr>
            <a:r>
              <a:rPr lang="en-US" sz="1250" dirty="0">
                <a:solidFill>
                  <a:srgbClr val="64708A"/>
                </a:solidFill>
                <a:latin typeface="Arial" pitchFamily="34" charset="0"/>
                <a:ea typeface="Arial" pitchFamily="34" charset="-122"/>
                <a:cs typeface="Arial" pitchFamily="34" charset="-120"/>
              </a:rPr>
              <a:t>Reverts must be caught gracefully; we surfaced clear error messages instead of crashing.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roundRect">
            <a:avLst>
              <a:gd name="adj" fmla="val 1944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94944" y="603504"/>
            <a:ext cx="365760" cy="365760"/>
          </a:xfrm>
          <a:prstGeom prst="rect">
            <a:avLst/>
          </a:prstGeom>
        </p:spPr>
      </p:pic>
      <p:sp>
        <p:nvSpPr>
          <p:cNvPr id="4" name="Text 1"/>
          <p:cNvSpPr/>
          <p:nvPr/>
        </p:nvSpPr>
        <p:spPr>
          <a:xfrm>
            <a:off x="1371600" y="457200"/>
            <a:ext cx="8229600" cy="274320"/>
          </a:xfrm>
          <a:prstGeom prst="rect">
            <a:avLst/>
          </a:prstGeom>
          <a:noFill/>
          <a:ln/>
        </p:spPr>
        <p:txBody>
          <a:bodyPr wrap="square" rtlCol="0" anchor="ctr"/>
          <a:lstStyle/>
          <a:p>
            <a:pPr marL="0" indent="0">
              <a:buNone/>
            </a:pPr>
            <a:r>
              <a:rPr lang="en-US" sz="1150" b="1" kern="0" spc="200" dirty="0">
                <a:solidFill>
                  <a:srgbClr val="22D3EE"/>
                </a:solidFill>
                <a:latin typeface="Arial" pitchFamily="34" charset="0"/>
                <a:ea typeface="Arial" pitchFamily="34" charset="-122"/>
                <a:cs typeface="Arial" pitchFamily="34" charset="-120"/>
              </a:rPr>
              <a:t>WRAP-UP</a:t>
            </a:r>
            <a:endParaRPr lang="en-US" sz="1150" dirty="0"/>
          </a:p>
        </p:txBody>
      </p:sp>
      <p:sp>
        <p:nvSpPr>
          <p:cNvPr id="5" name="Text 2"/>
          <p:cNvSpPr/>
          <p:nvPr/>
        </p:nvSpPr>
        <p:spPr>
          <a:xfrm>
            <a:off x="1353312" y="676656"/>
            <a:ext cx="10058400" cy="502920"/>
          </a:xfrm>
          <a:prstGeom prst="rect">
            <a:avLst/>
          </a:prstGeom>
          <a:noFill/>
          <a:ln/>
        </p:spPr>
        <p:txBody>
          <a:bodyPr wrap="square" rtlCol="0" anchor="ctr"/>
          <a:lstStyle/>
          <a:p>
            <a:pPr marL="0" indent="0">
              <a:buNone/>
            </a:pPr>
            <a:r>
              <a:rPr lang="en-US" sz="2700" b="1" dirty="0">
                <a:solidFill>
                  <a:srgbClr val="16203A"/>
                </a:solidFill>
                <a:latin typeface="Cambria" pitchFamily="34" charset="0"/>
                <a:ea typeface="Cambria" pitchFamily="34" charset="-122"/>
                <a:cs typeface="Cambria" pitchFamily="34" charset="-120"/>
              </a:rPr>
              <a:t>Conclusion &amp; Future Work</a:t>
            </a:r>
            <a:endParaRPr lang="en-US" sz="2700" dirty="0"/>
          </a:p>
        </p:txBody>
      </p:sp>
      <p:sp>
        <p:nvSpPr>
          <p:cNvPr id="6" name="Shape 3"/>
          <p:cNvSpPr/>
          <p:nvPr/>
        </p:nvSpPr>
        <p:spPr>
          <a:xfrm>
            <a:off x="548640" y="1737360"/>
            <a:ext cx="5532120" cy="4206240"/>
          </a:xfrm>
          <a:prstGeom prst="roundRect">
            <a:avLst>
              <a:gd name="adj" fmla="val 2174"/>
            </a:avLst>
          </a:prstGeom>
          <a:solidFill>
            <a:srgbClr val="FFFFFF"/>
          </a:solidFill>
          <a:ln w="12700">
            <a:solidFill>
              <a:srgbClr val="E3E8F2"/>
            </a:solidFill>
            <a:prstDash val="solid"/>
          </a:ln>
          <a:effectLst>
            <a:outerShdw blurRad="101600" dist="38100" dir="5400000" algn="bl" rotWithShape="0">
              <a:srgbClr val="8995B0">
                <a:alpha val="22000"/>
              </a:srgbClr>
            </a:outerShdw>
          </a:effectLst>
        </p:spPr>
        <p:txBody>
          <a:bodyPr/>
          <a:lstStyle/>
          <a:p>
            <a:endParaRPr lang="en-US"/>
          </a:p>
        </p:txBody>
      </p:sp>
      <p:sp>
        <p:nvSpPr>
          <p:cNvPr id="7" name="Text 4"/>
          <p:cNvSpPr/>
          <p:nvPr/>
        </p:nvSpPr>
        <p:spPr>
          <a:xfrm>
            <a:off x="868680" y="2011680"/>
            <a:ext cx="4937760" cy="365760"/>
          </a:xfrm>
          <a:prstGeom prst="rect">
            <a:avLst/>
          </a:prstGeom>
          <a:noFill/>
          <a:ln/>
        </p:spPr>
        <p:txBody>
          <a:bodyPr wrap="square" rtlCol="0" anchor="ctr"/>
          <a:lstStyle/>
          <a:p>
            <a:pPr marL="0" indent="0">
              <a:buNone/>
            </a:pPr>
            <a:r>
              <a:rPr lang="en-US" sz="1800" b="1" dirty="0">
                <a:solidFill>
                  <a:srgbClr val="16203A"/>
                </a:solidFill>
                <a:latin typeface="Cambria" pitchFamily="34" charset="0"/>
                <a:ea typeface="Cambria" pitchFamily="34" charset="-122"/>
                <a:cs typeface="Cambria" pitchFamily="34" charset="-120"/>
              </a:rPr>
              <a:t>What we delivered</a:t>
            </a:r>
            <a:endParaRPr lang="en-US" sz="1800" dirty="0"/>
          </a:p>
        </p:txBody>
      </p:sp>
      <p:pic>
        <p:nvPicPr>
          <p:cNvPr id="8" name="Image 1" descr="preencoded.png"/>
          <p:cNvPicPr>
            <a:picLocks noChangeAspect="1"/>
          </p:cNvPicPr>
          <p:nvPr/>
        </p:nvPicPr>
        <p:blipFill>
          <a:blip r:embed="rId4"/>
          <a:stretch>
            <a:fillRect/>
          </a:stretch>
        </p:blipFill>
        <p:spPr>
          <a:xfrm>
            <a:off x="868680" y="2551176"/>
            <a:ext cx="237744" cy="237744"/>
          </a:xfrm>
          <a:prstGeom prst="rect">
            <a:avLst/>
          </a:prstGeom>
        </p:spPr>
      </p:pic>
      <p:sp>
        <p:nvSpPr>
          <p:cNvPr id="9" name="Text 5"/>
          <p:cNvSpPr/>
          <p:nvPr/>
        </p:nvSpPr>
        <p:spPr>
          <a:xfrm>
            <a:off x="1234440" y="2496312"/>
            <a:ext cx="4663440" cy="548640"/>
          </a:xfrm>
          <a:prstGeom prst="rect">
            <a:avLst/>
          </a:prstGeom>
          <a:noFill/>
          <a:ln/>
        </p:spPr>
        <p:txBody>
          <a:bodyPr wrap="square" rtlCol="0" anchor="t"/>
          <a:lstStyle/>
          <a:p>
            <a:pPr marL="0" indent="0">
              <a:lnSpc>
                <a:spcPct val="105000"/>
              </a:lnSpc>
              <a:buNone/>
            </a:pPr>
            <a:r>
              <a:rPr lang="en-US" sz="1300" dirty="0">
                <a:solidFill>
                  <a:srgbClr val="16203A"/>
                </a:solidFill>
                <a:latin typeface="Arial" pitchFamily="34" charset="0"/>
                <a:ea typeface="Arial" pitchFamily="34" charset="-122"/>
                <a:cs typeface="Arial" pitchFamily="34" charset="-120"/>
              </a:rPr>
              <a:t>A working crowdfunding DApp deployed on Sepolia</a:t>
            </a:r>
            <a:endParaRPr lang="en-US" sz="1300" dirty="0"/>
          </a:p>
        </p:txBody>
      </p:sp>
      <p:pic>
        <p:nvPicPr>
          <p:cNvPr id="10" name="Image 2" descr="preencoded.png"/>
          <p:cNvPicPr>
            <a:picLocks noChangeAspect="1"/>
          </p:cNvPicPr>
          <p:nvPr/>
        </p:nvPicPr>
        <p:blipFill>
          <a:blip r:embed="rId4"/>
          <a:stretch>
            <a:fillRect/>
          </a:stretch>
        </p:blipFill>
        <p:spPr>
          <a:xfrm>
            <a:off x="868680" y="3209544"/>
            <a:ext cx="237744" cy="237744"/>
          </a:xfrm>
          <a:prstGeom prst="rect">
            <a:avLst/>
          </a:prstGeom>
        </p:spPr>
      </p:pic>
      <p:sp>
        <p:nvSpPr>
          <p:cNvPr id="11" name="Text 6"/>
          <p:cNvSpPr/>
          <p:nvPr/>
        </p:nvSpPr>
        <p:spPr>
          <a:xfrm>
            <a:off x="1234440" y="3154680"/>
            <a:ext cx="4663440" cy="548640"/>
          </a:xfrm>
          <a:prstGeom prst="rect">
            <a:avLst/>
          </a:prstGeom>
          <a:noFill/>
          <a:ln/>
        </p:spPr>
        <p:txBody>
          <a:bodyPr wrap="square" rtlCol="0" anchor="t"/>
          <a:lstStyle/>
          <a:p>
            <a:pPr marL="0" indent="0">
              <a:lnSpc>
                <a:spcPct val="105000"/>
              </a:lnSpc>
              <a:buNone/>
            </a:pPr>
            <a:r>
              <a:rPr lang="en-US" sz="1300" dirty="0">
                <a:solidFill>
                  <a:srgbClr val="16203A"/>
                </a:solidFill>
                <a:latin typeface="Arial" pitchFamily="34" charset="0"/>
                <a:ea typeface="Arial" pitchFamily="34" charset="-122"/>
                <a:cs typeface="Arial" pitchFamily="34" charset="-120"/>
              </a:rPr>
              <a:t>Smart contract with escrow, withdrawal &amp; refund logic</a:t>
            </a:r>
            <a:endParaRPr lang="en-US" sz="1300" dirty="0"/>
          </a:p>
        </p:txBody>
      </p:sp>
      <p:pic>
        <p:nvPicPr>
          <p:cNvPr id="12" name="Image 3" descr="preencoded.png"/>
          <p:cNvPicPr>
            <a:picLocks noChangeAspect="1"/>
          </p:cNvPicPr>
          <p:nvPr/>
        </p:nvPicPr>
        <p:blipFill>
          <a:blip r:embed="rId4"/>
          <a:stretch>
            <a:fillRect/>
          </a:stretch>
        </p:blipFill>
        <p:spPr>
          <a:xfrm>
            <a:off x="868680" y="3867912"/>
            <a:ext cx="237744" cy="237744"/>
          </a:xfrm>
          <a:prstGeom prst="rect">
            <a:avLst/>
          </a:prstGeom>
        </p:spPr>
      </p:pic>
      <p:sp>
        <p:nvSpPr>
          <p:cNvPr id="13" name="Text 7"/>
          <p:cNvSpPr/>
          <p:nvPr/>
        </p:nvSpPr>
        <p:spPr>
          <a:xfrm>
            <a:off x="1234440" y="3813048"/>
            <a:ext cx="4663440" cy="548640"/>
          </a:xfrm>
          <a:prstGeom prst="rect">
            <a:avLst/>
          </a:prstGeom>
          <a:noFill/>
          <a:ln/>
        </p:spPr>
        <p:txBody>
          <a:bodyPr wrap="square" rtlCol="0" anchor="t"/>
          <a:lstStyle/>
          <a:p>
            <a:pPr marL="0" indent="0">
              <a:lnSpc>
                <a:spcPct val="105000"/>
              </a:lnSpc>
              <a:buNone/>
            </a:pPr>
            <a:r>
              <a:rPr lang="en-US" sz="1300" dirty="0">
                <a:solidFill>
                  <a:srgbClr val="16203A"/>
                </a:solidFill>
                <a:latin typeface="Arial" pitchFamily="34" charset="0"/>
                <a:ea typeface="Arial" pitchFamily="34" charset="-122"/>
                <a:cs typeface="Arial" pitchFamily="34" charset="-120"/>
              </a:rPr>
              <a:t>React frontend with MetaMask wallet integration</a:t>
            </a:r>
            <a:endParaRPr lang="en-US" sz="1300" dirty="0"/>
          </a:p>
        </p:txBody>
      </p:sp>
      <p:pic>
        <p:nvPicPr>
          <p:cNvPr id="14" name="Image 4" descr="preencoded.png"/>
          <p:cNvPicPr>
            <a:picLocks noChangeAspect="1"/>
          </p:cNvPicPr>
          <p:nvPr/>
        </p:nvPicPr>
        <p:blipFill>
          <a:blip r:embed="rId4"/>
          <a:stretch>
            <a:fillRect/>
          </a:stretch>
        </p:blipFill>
        <p:spPr>
          <a:xfrm>
            <a:off x="868680" y="4526280"/>
            <a:ext cx="237744" cy="237744"/>
          </a:xfrm>
          <a:prstGeom prst="rect">
            <a:avLst/>
          </a:prstGeom>
        </p:spPr>
      </p:pic>
      <p:sp>
        <p:nvSpPr>
          <p:cNvPr id="15" name="Text 8"/>
          <p:cNvSpPr/>
          <p:nvPr/>
        </p:nvSpPr>
        <p:spPr>
          <a:xfrm>
            <a:off x="1234440" y="4471416"/>
            <a:ext cx="4663440" cy="548640"/>
          </a:xfrm>
          <a:prstGeom prst="rect">
            <a:avLst/>
          </a:prstGeom>
          <a:noFill/>
          <a:ln/>
        </p:spPr>
        <p:txBody>
          <a:bodyPr wrap="square" rtlCol="0" anchor="t"/>
          <a:lstStyle/>
          <a:p>
            <a:pPr marL="0" indent="0">
              <a:lnSpc>
                <a:spcPct val="105000"/>
              </a:lnSpc>
              <a:buNone/>
            </a:pPr>
            <a:r>
              <a:rPr lang="en-US" sz="1300" dirty="0">
                <a:solidFill>
                  <a:srgbClr val="16203A"/>
                </a:solidFill>
                <a:latin typeface="Arial" pitchFamily="34" charset="0"/>
                <a:ea typeface="Arial" pitchFamily="34" charset="-122"/>
                <a:cs typeface="Arial" pitchFamily="34" charset="-120"/>
              </a:rPr>
              <a:t>On-chain transparency verified live on Etherscan</a:t>
            </a:r>
            <a:endParaRPr lang="en-US" sz="1300" dirty="0"/>
          </a:p>
        </p:txBody>
      </p:sp>
      <p:pic>
        <p:nvPicPr>
          <p:cNvPr id="16" name="Image 5" descr="preencoded.png"/>
          <p:cNvPicPr>
            <a:picLocks noChangeAspect="1"/>
          </p:cNvPicPr>
          <p:nvPr/>
        </p:nvPicPr>
        <p:blipFill>
          <a:blip r:embed="rId4"/>
          <a:stretch>
            <a:fillRect/>
          </a:stretch>
        </p:blipFill>
        <p:spPr>
          <a:xfrm>
            <a:off x="868680" y="5184648"/>
            <a:ext cx="237744" cy="237744"/>
          </a:xfrm>
          <a:prstGeom prst="rect">
            <a:avLst/>
          </a:prstGeom>
        </p:spPr>
      </p:pic>
      <p:sp>
        <p:nvSpPr>
          <p:cNvPr id="17" name="Text 9"/>
          <p:cNvSpPr/>
          <p:nvPr/>
        </p:nvSpPr>
        <p:spPr>
          <a:xfrm>
            <a:off x="1234440" y="5129784"/>
            <a:ext cx="4663440" cy="548640"/>
          </a:xfrm>
          <a:prstGeom prst="rect">
            <a:avLst/>
          </a:prstGeom>
          <a:noFill/>
          <a:ln/>
        </p:spPr>
        <p:txBody>
          <a:bodyPr wrap="square" rtlCol="0" anchor="t"/>
          <a:lstStyle/>
          <a:p>
            <a:pPr marL="0" indent="0">
              <a:lnSpc>
                <a:spcPct val="105000"/>
              </a:lnSpc>
              <a:buNone/>
            </a:pPr>
            <a:r>
              <a:rPr lang="en-US" sz="1300" dirty="0">
                <a:solidFill>
                  <a:srgbClr val="16203A"/>
                </a:solidFill>
                <a:latin typeface="Arial" pitchFamily="34" charset="0"/>
                <a:ea typeface="Arial" pitchFamily="34" charset="-122"/>
                <a:cs typeface="Arial" pitchFamily="34" charset="-120"/>
              </a:rPr>
              <a:t>Security safeguards against reentrancy &amp; misuse</a:t>
            </a:r>
            <a:endParaRPr lang="en-US" sz="1300" dirty="0"/>
          </a:p>
        </p:txBody>
      </p:sp>
      <p:sp>
        <p:nvSpPr>
          <p:cNvPr id="18" name="Shape 10"/>
          <p:cNvSpPr/>
          <p:nvPr/>
        </p:nvSpPr>
        <p:spPr>
          <a:xfrm>
            <a:off x="6263640" y="1737360"/>
            <a:ext cx="5349240" cy="4206240"/>
          </a:xfrm>
          <a:prstGeom prst="roundRect">
            <a:avLst>
              <a:gd name="adj" fmla="val 2174"/>
            </a:avLst>
          </a:prstGeom>
          <a:solidFill>
            <a:srgbClr val="0E1430"/>
          </a:solidFill>
          <a:ln/>
          <a:effectLst>
            <a:outerShdw blurRad="101600" dist="38100" dir="5400000" algn="bl" rotWithShape="0">
              <a:srgbClr val="8995B0">
                <a:alpha val="22000"/>
              </a:srgbClr>
            </a:outerShdw>
          </a:effectLst>
        </p:spPr>
        <p:txBody>
          <a:bodyPr/>
          <a:lstStyle/>
          <a:p>
            <a:endParaRPr lang="en-US"/>
          </a:p>
        </p:txBody>
      </p:sp>
      <p:sp>
        <p:nvSpPr>
          <p:cNvPr id="19" name="Text 11"/>
          <p:cNvSpPr/>
          <p:nvPr/>
        </p:nvSpPr>
        <p:spPr>
          <a:xfrm>
            <a:off x="6583680" y="2011680"/>
            <a:ext cx="4754880" cy="365760"/>
          </a:xfrm>
          <a:prstGeom prst="rect">
            <a:avLst/>
          </a:prstGeom>
          <a:noFill/>
          <a:ln/>
        </p:spPr>
        <p:txBody>
          <a:bodyPr wrap="square"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Future work</a:t>
            </a:r>
            <a:endParaRPr lang="en-US" sz="1800" dirty="0"/>
          </a:p>
        </p:txBody>
      </p:sp>
      <p:pic>
        <p:nvPicPr>
          <p:cNvPr id="20" name="Image 6" descr="preencoded.png"/>
          <p:cNvPicPr>
            <a:picLocks noChangeAspect="1"/>
          </p:cNvPicPr>
          <p:nvPr/>
        </p:nvPicPr>
        <p:blipFill>
          <a:blip r:embed="rId3"/>
          <a:stretch>
            <a:fillRect/>
          </a:stretch>
        </p:blipFill>
        <p:spPr>
          <a:xfrm>
            <a:off x="6583680" y="2587752"/>
            <a:ext cx="256032" cy="256032"/>
          </a:xfrm>
          <a:prstGeom prst="rect">
            <a:avLst/>
          </a:prstGeom>
        </p:spPr>
      </p:pic>
      <p:sp>
        <p:nvSpPr>
          <p:cNvPr id="21" name="Text 12"/>
          <p:cNvSpPr/>
          <p:nvPr/>
        </p:nvSpPr>
        <p:spPr>
          <a:xfrm>
            <a:off x="6967728" y="2532888"/>
            <a:ext cx="4526280" cy="713232"/>
          </a:xfrm>
          <a:prstGeom prst="rect">
            <a:avLst/>
          </a:prstGeom>
          <a:noFill/>
          <a:ln/>
        </p:spPr>
        <p:txBody>
          <a:bodyPr wrap="square" rtlCol="0" anchor="t"/>
          <a:lstStyle/>
          <a:p>
            <a:pPr marL="0" indent="0">
              <a:lnSpc>
                <a:spcPct val="105000"/>
              </a:lnSpc>
              <a:buNone/>
            </a:pPr>
            <a:r>
              <a:rPr lang="en-US" sz="1350" b="1" dirty="0">
                <a:solidFill>
                  <a:srgbClr val="FFFFFF"/>
                </a:solidFill>
                <a:latin typeface="Arial" pitchFamily="34" charset="0"/>
                <a:ea typeface="Arial" pitchFamily="34" charset="-122"/>
                <a:cs typeface="Arial" pitchFamily="34" charset="-120"/>
              </a:rPr>
              <a:t>Mainnet &amp; L2  </a:t>
            </a:r>
            <a:r>
              <a:rPr lang="en-US" sz="1250" dirty="0">
                <a:solidFill>
                  <a:srgbClr val="B9C4DE"/>
                </a:solidFill>
                <a:latin typeface="Arial" pitchFamily="34" charset="0"/>
                <a:ea typeface="Arial" pitchFamily="34" charset="-122"/>
                <a:cs typeface="Arial" pitchFamily="34" charset="-120"/>
              </a:rPr>
              <a:t>:  Deploy to a low-fee Layer-2 (e.g. Scroll, Base) for real users.</a:t>
            </a:r>
            <a:endParaRPr lang="en-US" sz="1350" dirty="0"/>
          </a:p>
        </p:txBody>
      </p:sp>
      <p:pic>
        <p:nvPicPr>
          <p:cNvPr id="22" name="Image 7" descr="preencoded.png"/>
          <p:cNvPicPr>
            <a:picLocks noChangeAspect="1"/>
          </p:cNvPicPr>
          <p:nvPr/>
        </p:nvPicPr>
        <p:blipFill>
          <a:blip r:embed="rId3"/>
          <a:stretch>
            <a:fillRect/>
          </a:stretch>
        </p:blipFill>
        <p:spPr>
          <a:xfrm>
            <a:off x="6583680" y="3410712"/>
            <a:ext cx="256032" cy="256032"/>
          </a:xfrm>
          <a:prstGeom prst="rect">
            <a:avLst/>
          </a:prstGeom>
        </p:spPr>
      </p:pic>
      <p:sp>
        <p:nvSpPr>
          <p:cNvPr id="23" name="Text 13"/>
          <p:cNvSpPr/>
          <p:nvPr/>
        </p:nvSpPr>
        <p:spPr>
          <a:xfrm>
            <a:off x="6967728" y="3355848"/>
            <a:ext cx="4526280" cy="713232"/>
          </a:xfrm>
          <a:prstGeom prst="rect">
            <a:avLst/>
          </a:prstGeom>
          <a:noFill/>
          <a:ln/>
        </p:spPr>
        <p:txBody>
          <a:bodyPr wrap="square" rtlCol="0" anchor="t"/>
          <a:lstStyle/>
          <a:p>
            <a:pPr marL="0" indent="0">
              <a:lnSpc>
                <a:spcPct val="105000"/>
              </a:lnSpc>
              <a:buNone/>
            </a:pPr>
            <a:r>
              <a:rPr lang="en-US" sz="1350" b="1" dirty="0">
                <a:solidFill>
                  <a:srgbClr val="FFFFFF"/>
                </a:solidFill>
                <a:latin typeface="Arial" pitchFamily="34" charset="0"/>
                <a:ea typeface="Arial" pitchFamily="34" charset="-122"/>
                <a:cs typeface="Arial" pitchFamily="34" charset="-120"/>
              </a:rPr>
              <a:t>Milestone releases  </a:t>
            </a:r>
            <a:r>
              <a:rPr lang="en-US" sz="1250" dirty="0">
                <a:solidFill>
                  <a:srgbClr val="B9C4DE"/>
                </a:solidFill>
                <a:latin typeface="Arial" pitchFamily="34" charset="0"/>
                <a:ea typeface="Arial" pitchFamily="34" charset="-122"/>
                <a:cs typeface="Arial" pitchFamily="34" charset="-120"/>
              </a:rPr>
              <a:t>:  Release funds in stages tied to project milestones, not all at once.</a:t>
            </a:r>
            <a:endParaRPr lang="en-US" sz="1350" dirty="0"/>
          </a:p>
        </p:txBody>
      </p:sp>
      <p:pic>
        <p:nvPicPr>
          <p:cNvPr id="24" name="Image 8" descr="preencoded.png"/>
          <p:cNvPicPr>
            <a:picLocks noChangeAspect="1"/>
          </p:cNvPicPr>
          <p:nvPr/>
        </p:nvPicPr>
        <p:blipFill>
          <a:blip r:embed="rId3"/>
          <a:stretch>
            <a:fillRect/>
          </a:stretch>
        </p:blipFill>
        <p:spPr>
          <a:xfrm>
            <a:off x="6583680" y="4233672"/>
            <a:ext cx="256032" cy="256032"/>
          </a:xfrm>
          <a:prstGeom prst="rect">
            <a:avLst/>
          </a:prstGeom>
        </p:spPr>
      </p:pic>
      <p:sp>
        <p:nvSpPr>
          <p:cNvPr id="25" name="Text 14"/>
          <p:cNvSpPr/>
          <p:nvPr/>
        </p:nvSpPr>
        <p:spPr>
          <a:xfrm>
            <a:off x="6967728" y="4178808"/>
            <a:ext cx="4526280" cy="713232"/>
          </a:xfrm>
          <a:prstGeom prst="rect">
            <a:avLst/>
          </a:prstGeom>
          <a:noFill/>
          <a:ln/>
        </p:spPr>
        <p:txBody>
          <a:bodyPr wrap="square" rtlCol="0" anchor="t"/>
          <a:lstStyle/>
          <a:p>
            <a:pPr marL="0" indent="0">
              <a:lnSpc>
                <a:spcPct val="105000"/>
              </a:lnSpc>
              <a:buNone/>
            </a:pPr>
            <a:r>
              <a:rPr lang="en-US" sz="1350" b="1" dirty="0">
                <a:solidFill>
                  <a:srgbClr val="FFFFFF"/>
                </a:solidFill>
                <a:latin typeface="Arial" pitchFamily="34" charset="0"/>
                <a:ea typeface="Arial" pitchFamily="34" charset="-122"/>
                <a:cs typeface="Arial" pitchFamily="34" charset="-120"/>
              </a:rPr>
              <a:t>DAO governance  </a:t>
            </a:r>
            <a:r>
              <a:rPr lang="en-US" sz="1250" dirty="0">
                <a:solidFill>
                  <a:srgbClr val="B9C4DE"/>
                </a:solidFill>
                <a:latin typeface="Arial" pitchFamily="34" charset="0"/>
                <a:ea typeface="Arial" pitchFamily="34" charset="-122"/>
                <a:cs typeface="Arial" pitchFamily="34" charset="-120"/>
              </a:rPr>
              <a:t>:  Let backers vote on whether a creator's milestone is approved.</a:t>
            </a:r>
            <a:endParaRPr lang="en-US" sz="1350" dirty="0"/>
          </a:p>
        </p:txBody>
      </p:sp>
      <p:pic>
        <p:nvPicPr>
          <p:cNvPr id="26" name="Image 9" descr="preencoded.png"/>
          <p:cNvPicPr>
            <a:picLocks noChangeAspect="1"/>
          </p:cNvPicPr>
          <p:nvPr/>
        </p:nvPicPr>
        <p:blipFill>
          <a:blip r:embed="rId3"/>
          <a:stretch>
            <a:fillRect/>
          </a:stretch>
        </p:blipFill>
        <p:spPr>
          <a:xfrm>
            <a:off x="6583680" y="5056632"/>
            <a:ext cx="256032" cy="256032"/>
          </a:xfrm>
          <a:prstGeom prst="rect">
            <a:avLst/>
          </a:prstGeom>
        </p:spPr>
      </p:pic>
      <p:sp>
        <p:nvSpPr>
          <p:cNvPr id="27" name="Text 15"/>
          <p:cNvSpPr/>
          <p:nvPr/>
        </p:nvSpPr>
        <p:spPr>
          <a:xfrm>
            <a:off x="6967728" y="5001768"/>
            <a:ext cx="4526280" cy="713232"/>
          </a:xfrm>
          <a:prstGeom prst="rect">
            <a:avLst/>
          </a:prstGeom>
          <a:noFill/>
          <a:ln/>
        </p:spPr>
        <p:txBody>
          <a:bodyPr wrap="square" rtlCol="0" anchor="t"/>
          <a:lstStyle/>
          <a:p>
            <a:pPr marL="0" indent="0">
              <a:lnSpc>
                <a:spcPct val="105000"/>
              </a:lnSpc>
              <a:buNone/>
            </a:pPr>
            <a:r>
              <a:rPr lang="en-US" sz="1350" b="1" dirty="0">
                <a:solidFill>
                  <a:srgbClr val="FFFFFF"/>
                </a:solidFill>
                <a:latin typeface="Arial" pitchFamily="34" charset="0"/>
                <a:ea typeface="Arial" pitchFamily="34" charset="-122"/>
                <a:cs typeface="Arial" pitchFamily="34" charset="-120"/>
              </a:rPr>
              <a:t>Stablecoin support  </a:t>
            </a:r>
            <a:r>
              <a:rPr lang="en-US" sz="1250" dirty="0">
                <a:solidFill>
                  <a:srgbClr val="B9C4DE"/>
                </a:solidFill>
                <a:latin typeface="Arial" pitchFamily="34" charset="0"/>
                <a:ea typeface="Arial" pitchFamily="34" charset="-122"/>
                <a:cs typeface="Arial" pitchFamily="34" charset="-120"/>
              </a:rPr>
              <a:t>:  Accept USDC to remove ETH price volatility for backers.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30"/>
        </a:solidFill>
        <a:effectLst/>
      </p:bgPr>
    </p:bg>
    <p:spTree>
      <p:nvGrpSpPr>
        <p:cNvPr id="1" name=""/>
        <p:cNvGrpSpPr/>
        <p:nvPr/>
      </p:nvGrpSpPr>
      <p:grpSpPr>
        <a:xfrm>
          <a:off x="0" y="0"/>
          <a:ext cx="0" cy="0"/>
          <a:chOff x="0" y="0"/>
          <a:chExt cx="0" cy="0"/>
        </a:xfrm>
      </p:grpSpPr>
      <p:sp>
        <p:nvSpPr>
          <p:cNvPr id="2" name="Shape 0"/>
          <p:cNvSpPr/>
          <p:nvPr/>
        </p:nvSpPr>
        <p:spPr>
          <a:xfrm>
            <a:off x="914400" y="1280160"/>
            <a:ext cx="685800" cy="685800"/>
          </a:xfrm>
          <a:prstGeom prst="ellipse">
            <a:avLst/>
          </a:prstGeom>
          <a:solidFill>
            <a:srgbClr val="1B2452"/>
          </a:solidFill>
          <a:ln/>
        </p:spPr>
        <p:txBody>
          <a:bodyPr/>
          <a:lstStyle/>
          <a:p>
            <a:endParaRPr lang="en-US"/>
          </a:p>
        </p:txBody>
      </p:sp>
      <p:sp>
        <p:nvSpPr>
          <p:cNvPr id="3" name="Shape 1"/>
          <p:cNvSpPr/>
          <p:nvPr/>
        </p:nvSpPr>
        <p:spPr>
          <a:xfrm>
            <a:off x="10881360" y="1554480"/>
            <a:ext cx="548640" cy="548640"/>
          </a:xfrm>
          <a:prstGeom prst="ellipse">
            <a:avLst/>
          </a:prstGeom>
          <a:solidFill>
            <a:srgbClr val="4F7CFF">
              <a:alpha val="18000"/>
            </a:srgbClr>
          </a:solidFill>
          <a:ln/>
        </p:spPr>
        <p:txBody>
          <a:bodyPr/>
          <a:lstStyle/>
          <a:p>
            <a:endParaRPr lang="en-US"/>
          </a:p>
        </p:txBody>
      </p:sp>
      <p:sp>
        <p:nvSpPr>
          <p:cNvPr id="4" name="Shape 2"/>
          <p:cNvSpPr/>
          <p:nvPr/>
        </p:nvSpPr>
        <p:spPr>
          <a:xfrm>
            <a:off x="731520" y="5212080"/>
            <a:ext cx="457200" cy="457200"/>
          </a:xfrm>
          <a:prstGeom prst="ellipse">
            <a:avLst/>
          </a:prstGeom>
          <a:solidFill>
            <a:srgbClr val="22D3EE">
              <a:alpha val="20000"/>
            </a:srgbClr>
          </a:solidFill>
          <a:ln/>
        </p:spPr>
        <p:txBody>
          <a:bodyPr/>
          <a:lstStyle/>
          <a:p>
            <a:endParaRPr lang="en-US"/>
          </a:p>
        </p:txBody>
      </p:sp>
      <p:sp>
        <p:nvSpPr>
          <p:cNvPr id="5" name="Shape 3"/>
          <p:cNvSpPr/>
          <p:nvPr/>
        </p:nvSpPr>
        <p:spPr>
          <a:xfrm>
            <a:off x="10972800" y="5120640"/>
            <a:ext cx="658368" cy="658368"/>
          </a:xfrm>
          <a:prstGeom prst="ellipse">
            <a:avLst/>
          </a:prstGeom>
          <a:solidFill>
            <a:srgbClr val="1B2452"/>
          </a:solidFill>
          <a:ln/>
        </p:spPr>
        <p:txBody>
          <a:bodyPr/>
          <a:lstStyle/>
          <a:p>
            <a:endParaRPr lang="en-US"/>
          </a:p>
        </p:txBody>
      </p:sp>
      <p:sp>
        <p:nvSpPr>
          <p:cNvPr id="6" name="Shape 4"/>
          <p:cNvSpPr/>
          <p:nvPr/>
        </p:nvSpPr>
        <p:spPr>
          <a:xfrm>
            <a:off x="10424160" y="502920"/>
            <a:ext cx="146304" cy="146304"/>
          </a:xfrm>
          <a:prstGeom prst="ellipse">
            <a:avLst/>
          </a:prstGeom>
          <a:solidFill>
            <a:srgbClr val="4F7CFF">
              <a:alpha val="55000"/>
            </a:srgbClr>
          </a:solidFill>
          <a:ln/>
        </p:spPr>
        <p:txBody>
          <a:bodyPr/>
          <a:lstStyle/>
          <a:p>
            <a:endParaRPr lang="en-US"/>
          </a:p>
        </p:txBody>
      </p:sp>
      <p:sp>
        <p:nvSpPr>
          <p:cNvPr id="7" name="Shape 5"/>
          <p:cNvSpPr/>
          <p:nvPr/>
        </p:nvSpPr>
        <p:spPr>
          <a:xfrm>
            <a:off x="10927080" y="713232"/>
            <a:ext cx="91440" cy="91440"/>
          </a:xfrm>
          <a:prstGeom prst="ellipse">
            <a:avLst/>
          </a:prstGeom>
          <a:solidFill>
            <a:srgbClr val="22D3EE">
              <a:alpha val="60000"/>
            </a:srgbClr>
          </a:solidFill>
          <a:ln/>
        </p:spPr>
        <p:txBody>
          <a:bodyPr/>
          <a:lstStyle/>
          <a:p>
            <a:endParaRPr lang="en-US"/>
          </a:p>
        </p:txBody>
      </p:sp>
      <p:sp>
        <p:nvSpPr>
          <p:cNvPr id="8" name="Shape 6"/>
          <p:cNvSpPr/>
          <p:nvPr/>
        </p:nvSpPr>
        <p:spPr>
          <a:xfrm>
            <a:off x="11292840" y="457200"/>
            <a:ext cx="64008" cy="64008"/>
          </a:xfrm>
          <a:prstGeom prst="ellipse">
            <a:avLst/>
          </a:prstGeom>
          <a:solidFill>
            <a:srgbClr val="2DD4A7">
              <a:alpha val="55000"/>
            </a:srgbClr>
          </a:solidFill>
          <a:ln/>
        </p:spPr>
        <p:txBody>
          <a:bodyPr/>
          <a:lstStyle/>
          <a:p>
            <a:endParaRPr lang="en-US"/>
          </a:p>
        </p:txBody>
      </p:sp>
      <p:sp>
        <p:nvSpPr>
          <p:cNvPr id="9" name="Shape 7"/>
          <p:cNvSpPr/>
          <p:nvPr/>
        </p:nvSpPr>
        <p:spPr>
          <a:xfrm>
            <a:off x="10570464" y="576072"/>
            <a:ext cx="356616" cy="137160"/>
          </a:xfrm>
          <a:prstGeom prst="line">
            <a:avLst/>
          </a:prstGeom>
          <a:noFill/>
          <a:ln w="12700">
            <a:solidFill>
              <a:srgbClr val="4F7CFF">
                <a:alpha val="45000"/>
              </a:srgbClr>
            </a:solidFill>
            <a:prstDash val="solid"/>
          </a:ln>
        </p:spPr>
        <p:txBody>
          <a:bodyPr/>
          <a:lstStyle/>
          <a:p>
            <a:endParaRPr lang="en-US"/>
          </a:p>
        </p:txBody>
      </p:sp>
      <p:sp>
        <p:nvSpPr>
          <p:cNvPr id="10" name="Shape 8"/>
          <p:cNvSpPr/>
          <p:nvPr/>
        </p:nvSpPr>
        <p:spPr>
          <a:xfrm>
            <a:off x="11018520" y="749808"/>
            <a:ext cx="274320" cy="0"/>
          </a:xfrm>
          <a:prstGeom prst="line">
            <a:avLst/>
          </a:prstGeom>
          <a:noFill/>
          <a:ln w="12700">
            <a:solidFill>
              <a:srgbClr val="22D3EE">
                <a:alpha val="45000"/>
              </a:srgbClr>
            </a:solidFill>
            <a:prstDash val="solid"/>
          </a:ln>
        </p:spPr>
        <p:txBody>
          <a:bodyPr/>
          <a:lstStyle/>
          <a:p>
            <a:endParaRPr lang="en-US"/>
          </a:p>
        </p:txBody>
      </p:sp>
      <p:sp>
        <p:nvSpPr>
          <p:cNvPr id="11" name="Text 9"/>
          <p:cNvSpPr/>
          <p:nvPr/>
        </p:nvSpPr>
        <p:spPr>
          <a:xfrm>
            <a:off x="0" y="2331720"/>
            <a:ext cx="12161520" cy="91440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12" name="Text 10"/>
          <p:cNvSpPr/>
          <p:nvPr/>
        </p:nvSpPr>
        <p:spPr>
          <a:xfrm>
            <a:off x="0" y="3383280"/>
            <a:ext cx="12161520" cy="457200"/>
          </a:xfrm>
          <a:prstGeom prst="rect">
            <a:avLst/>
          </a:prstGeom>
          <a:noFill/>
          <a:ln/>
        </p:spPr>
        <p:txBody>
          <a:bodyPr wrap="square" rtlCol="0" anchor="ctr"/>
          <a:lstStyle/>
          <a:p>
            <a:pPr marL="0" indent="0" algn="ctr">
              <a:buNone/>
            </a:pPr>
            <a:r>
              <a:rPr lang="en-US" sz="1800" i="1" dirty="0">
                <a:solidFill>
                  <a:srgbClr val="22D3EE"/>
                </a:solidFill>
                <a:latin typeface="Arial" pitchFamily="34" charset="0"/>
                <a:ea typeface="Arial" pitchFamily="34" charset="-122"/>
                <a:cs typeface="Arial" pitchFamily="34" charset="-120"/>
              </a:rPr>
              <a:t>Questions &amp; Discussion</a:t>
            </a:r>
            <a:endParaRPr lang="en-US" sz="1800" dirty="0"/>
          </a:p>
        </p:txBody>
      </p:sp>
      <p:sp>
        <p:nvSpPr>
          <p:cNvPr id="13" name="Text 11"/>
          <p:cNvSpPr/>
          <p:nvPr/>
        </p:nvSpPr>
        <p:spPr>
          <a:xfrm>
            <a:off x="0" y="4297680"/>
            <a:ext cx="12161520" cy="365760"/>
          </a:xfrm>
          <a:prstGeom prst="rect">
            <a:avLst/>
          </a:prstGeom>
          <a:noFill/>
          <a:ln/>
        </p:spPr>
        <p:txBody>
          <a:bodyPr wrap="square" rtlCol="0" anchor="ctr"/>
          <a:lstStyle/>
          <a:p>
            <a:pPr marL="0" indent="0" algn="ctr">
              <a:buNone/>
            </a:pPr>
            <a:r>
              <a:rPr lang="en-US" sz="1250" dirty="0">
                <a:solidFill>
                  <a:srgbClr val="7E8BAC"/>
                </a:solidFill>
                <a:latin typeface="Arial" pitchFamily="34" charset="0"/>
                <a:ea typeface="Arial" pitchFamily="34" charset="-122"/>
                <a:cs typeface="Arial" pitchFamily="34" charset="-120"/>
              </a:rPr>
              <a:t>Group Name  •  CCS6354 Blockchain &amp; Smart Contract  •  FCI, Multimedia University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1953</Words>
  <Application>Microsoft Macintosh PowerPoint</Application>
  <PresentationFormat>Widescreen</PresentationFormat>
  <Paragraphs>211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DApp Presentation: Sample Template</dc:title>
  <dc:subject>PptxGenJS Presentation</dc:subject>
  <dc:creator>FCI, Multimedia University</dc:creator>
  <cp:lastModifiedBy>Jafar Uzma</cp:lastModifiedBy>
  <cp:revision>2</cp:revision>
  <dcterms:created xsi:type="dcterms:W3CDTF">2026-06-16T06:10:01Z</dcterms:created>
  <dcterms:modified xsi:type="dcterms:W3CDTF">2026-06-16T06:14:32Z</dcterms:modified>
</cp:coreProperties>
</file>